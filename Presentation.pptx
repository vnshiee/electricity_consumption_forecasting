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DM Sans" pitchFamily="2" charset="0"/>
      <p:regular r:id="rId15"/>
      <p:bold r:id="rId16"/>
      <p:italic r:id="rId17"/>
      <p:boldItalic r:id="rId18"/>
    </p:embeddedFont>
    <p:embeddedFont>
      <p:font typeface="Merriweather" panose="00000500000000000000" pitchFamily="2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11E7DA7-95DF-43AA-82C6-97A1DF5EB666}">
  <a:tblStyle styleId="{511E7DA7-95DF-43AA-82C6-97A1DF5EB66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708" y="3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4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2126009"/>
            <a:ext cx="11601450" cy="16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100" b="1" i="0" u="none" strike="noStrike" cap="none">
                <a:solidFill>
                  <a:srgbClr val="0B3954"/>
                </a:solidFill>
                <a:latin typeface="Merriweather"/>
                <a:ea typeface="Merriweather"/>
                <a:cs typeface="Merriweather"/>
                <a:sym typeface="Merriweather"/>
              </a:rPr>
              <a:t>Electricity Consumption Using Time Series Analysis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3954809"/>
            <a:ext cx="1104900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Dev Raj, Rishitha Pamu, Shruti Wadatkar, Vanshika Gupta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 Data Science and Engineering, IISER Bhopal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4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762125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571500" y="1762125"/>
            <a:ext cx="5550693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B3954"/>
                </a:solidFill>
                <a:latin typeface="Merriweather"/>
                <a:ea typeface="Merriweather"/>
                <a:cs typeface="Merriweather"/>
                <a:sym typeface="Merriweather"/>
              </a:rPr>
              <a:t>Our Data: Key Features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571500" y="2295525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The dataset is a univariate time series (one variable over time). We found two key patterns: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571500" y="4533900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We use additive decomposition to visually separate these components.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790575" y="3057525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857250" y="3057525"/>
            <a:ext cx="50006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It has a clear </a:t>
            </a:r>
            <a:r>
              <a:rPr lang="en-US" sz="1500" b="1" i="0" u="none" strike="noStrike" cap="none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upward trend</a:t>
            </a:r>
            <a:r>
              <a:rPr lang="en-US" sz="1500" b="0" i="0" u="none" strike="noStrike" cap="none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 (consumption is increasing over the years).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790575" y="3771900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857250" y="3771900"/>
            <a:ext cx="50006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It has </a:t>
            </a:r>
            <a:r>
              <a:rPr lang="en-US" sz="1500" b="1" i="0" u="none" strike="noStrike" cap="none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strong seasonality</a:t>
            </a:r>
            <a:r>
              <a:rPr lang="en-US" sz="1500" b="0" i="0" u="none" strike="noStrike" cap="none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 (a repeating pattern of peaks and valleys each year).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571500" y="57150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B3954"/>
                </a:solidFill>
                <a:latin typeface="Merriweather"/>
                <a:ea typeface="Merriweather"/>
                <a:cs typeface="Merriweather"/>
                <a:sym typeface="Merriweather"/>
              </a:rPr>
              <a:t>Understanding the Data</a:t>
            </a:r>
            <a:endParaRPr/>
          </a:p>
        </p:txBody>
      </p:sp>
      <p:pic>
        <p:nvPicPr>
          <p:cNvPr id="101" name="Google Shape;101;p14" title="time_series_decomposition.png"/>
          <p:cNvPicPr preferRelativeResize="0"/>
          <p:nvPr/>
        </p:nvPicPr>
        <p:blipFill rotWithShape="1">
          <a:blip r:embed="rId5">
            <a:alphaModFix/>
          </a:blip>
          <a:srcRect l="6129"/>
          <a:stretch/>
        </p:blipFill>
        <p:spPr>
          <a:xfrm>
            <a:off x="6060875" y="1352950"/>
            <a:ext cx="5861801" cy="4752975"/>
          </a:xfrm>
          <a:prstGeom prst="rect">
            <a:avLst/>
          </a:prstGeom>
          <a:noFill/>
          <a:ln>
            <a:noFill/>
          </a:ln>
          <a:effectLst>
            <a:outerShdw blurRad="57150" dist="47625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4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66962"/>
            <a:ext cx="2547937" cy="3076575"/>
          </a:xfrm>
          <a:prstGeom prst="rect">
            <a:avLst/>
          </a:prstGeom>
          <a:noFill/>
          <a:ln>
            <a:noFill/>
          </a:ln>
          <a:effectLst>
            <a:outerShdw blurRad="57150" dist="57150" dir="6599999" algn="bl" rotWithShape="0">
              <a:srgbClr val="000000">
                <a:alpha val="50000"/>
              </a:srgbClr>
            </a:outerShdw>
          </a:effectLst>
        </p:spPr>
      </p:pic>
      <p:pic>
        <p:nvPicPr>
          <p:cNvPr id="108" name="Google Shape;108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05187" y="2366962"/>
            <a:ext cx="2547937" cy="3076575"/>
          </a:xfrm>
          <a:prstGeom prst="rect">
            <a:avLst/>
          </a:prstGeom>
          <a:noFill/>
          <a:ln>
            <a:noFill/>
          </a:ln>
          <a:effectLst>
            <a:outerShdw blurRad="57150" dist="57150" dir="6599999" algn="bl" rotWithShape="0">
              <a:srgbClr val="000000">
                <a:alpha val="50000"/>
              </a:srgbClr>
            </a:outerShdw>
          </a:effectLst>
        </p:spPr>
      </p:pic>
      <p:pic>
        <p:nvPicPr>
          <p:cNvPr id="109" name="Google Shape;109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38875" y="2366962"/>
            <a:ext cx="2547937" cy="3076575"/>
          </a:xfrm>
          <a:prstGeom prst="rect">
            <a:avLst/>
          </a:prstGeom>
          <a:noFill/>
          <a:ln>
            <a:noFill/>
          </a:ln>
          <a:effectLst>
            <a:outerShdw blurRad="57150" dist="57150" dir="6599999" algn="bl" rotWithShape="0">
              <a:srgbClr val="000000">
                <a:alpha val="50000"/>
              </a:srgbClr>
            </a:outerShdw>
          </a:effectLst>
        </p:spPr>
      </p:pic>
      <p:pic>
        <p:nvPicPr>
          <p:cNvPr id="110" name="Google Shape;110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072562" y="2366962"/>
            <a:ext cx="2547937" cy="3076575"/>
          </a:xfrm>
          <a:prstGeom prst="rect">
            <a:avLst/>
          </a:prstGeom>
          <a:noFill/>
          <a:ln>
            <a:noFill/>
          </a:ln>
          <a:effectLst>
            <a:outerShdw blurRad="57150" dist="57150" dir="6599999" algn="bl" rotWithShape="0">
              <a:srgbClr val="000000">
                <a:alpha val="50000"/>
              </a:srgbClr>
            </a:outerShdw>
          </a:effectLst>
        </p:spPr>
      </p:pic>
      <p:sp>
        <p:nvSpPr>
          <p:cNvPr id="111" name="Google Shape;111;p15"/>
          <p:cNvSpPr txBox="1"/>
          <p:nvPr/>
        </p:nvSpPr>
        <p:spPr>
          <a:xfrm>
            <a:off x="866775" y="2852672"/>
            <a:ext cx="20553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B3954"/>
                </a:solidFill>
                <a:latin typeface="Merriweather"/>
                <a:ea typeface="Merriweather"/>
                <a:cs typeface="Merriweather"/>
                <a:sym typeface="Merriweather"/>
              </a:rPr>
              <a:t>SARIMA &amp; GARCH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866775" y="3999217"/>
            <a:ext cx="19575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Statistical models for linear patterns and residual volatility.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3700462" y="2852672"/>
            <a:ext cx="20553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B3954"/>
                </a:solidFill>
                <a:latin typeface="Merriweather"/>
                <a:ea typeface="Merriweather"/>
                <a:cs typeface="Merriweather"/>
                <a:sym typeface="Merriweather"/>
              </a:rPr>
              <a:t>ETS (Holt-Winters)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3700462" y="3999217"/>
            <a:ext cx="19575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Explicitly models level, trend, and seasonality using smoothing.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6534151" y="2852672"/>
            <a:ext cx="950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B3954"/>
                </a:solidFill>
                <a:latin typeface="Merriweather"/>
                <a:ea typeface="Merriweather"/>
                <a:cs typeface="Merriweather"/>
                <a:sym typeface="Merriweather"/>
              </a:rPr>
              <a:t>Prophet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6534088" y="3999231"/>
            <a:ext cx="19575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A fast, interpretable, and component-based additive model, developed by </a:t>
            </a:r>
            <a:r>
              <a:rPr lang="en-US" sz="1350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F</a:t>
            </a:r>
            <a:r>
              <a:rPr lang="en-US" sz="1350" b="0" i="0" u="none" strike="noStrike" cap="none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acebook.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9367838" y="2852672"/>
            <a:ext cx="1800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B3954"/>
                </a:solidFill>
                <a:latin typeface="Merriweather"/>
                <a:ea typeface="Merriweather"/>
                <a:cs typeface="Merriweather"/>
                <a:sym typeface="Merriweather"/>
              </a:rPr>
              <a:t>LSTM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9367713" y="3999231"/>
            <a:ext cx="19575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A deep learning model for complex, non-linear patterns.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571500" y="57150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B3954"/>
                </a:solidFill>
                <a:latin typeface="Merriweather"/>
                <a:ea typeface="Merriweather"/>
                <a:cs typeface="Merriweather"/>
                <a:sym typeface="Merriweather"/>
              </a:rPr>
              <a:t>Our Models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4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6"/>
          <p:cNvSpPr txBox="1"/>
          <p:nvPr/>
        </p:nvSpPr>
        <p:spPr>
          <a:xfrm>
            <a:off x="571500" y="1762125"/>
            <a:ext cx="5550693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B3954"/>
                </a:solidFill>
                <a:latin typeface="Merriweather"/>
                <a:ea typeface="Merriweather"/>
                <a:cs typeface="Merriweather"/>
                <a:sym typeface="Merriweather"/>
              </a:rPr>
              <a:t>Step 1: Achieve Stationarity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571500" y="2295525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SARIMA requires stationary data (a constant mean and variance).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704850" y="3057525"/>
            <a:ext cx="1524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1.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857250" y="3057525"/>
            <a:ext cx="52674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The original data was </a:t>
            </a:r>
            <a:r>
              <a:rPr lang="en-US" sz="1500" b="1" i="0" u="none" strike="noStrike" cap="none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non-stationary</a:t>
            </a:r>
            <a:r>
              <a:rPr lang="en-US" sz="1500" b="0" i="0" u="none" strike="noStrike" cap="none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 (due to the trend).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704850" y="3486150"/>
            <a:ext cx="1524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2.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857250" y="3486150"/>
            <a:ext cx="50006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We applied </a:t>
            </a:r>
            <a:r>
              <a:rPr lang="en-US" sz="1500" b="1" i="0" u="none" strike="noStrike" cap="none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seasonal (D=1)</a:t>
            </a:r>
            <a:r>
              <a:rPr lang="en-US" sz="1500" b="0" i="0" u="none" strike="noStrike" cap="none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 and </a:t>
            </a:r>
            <a:r>
              <a:rPr lang="en-US" sz="1500" b="1" i="0" u="none" strike="noStrike" cap="none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first (d=1) differencing</a:t>
            </a:r>
            <a:r>
              <a:rPr lang="en-US" sz="1500" b="0" i="0" u="none" strike="noStrike" cap="none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 to stabilize it.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704850" y="4200525"/>
            <a:ext cx="1524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3.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857250" y="4200525"/>
            <a:ext cx="50007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We used these ACF/PACF plots on the differenced data to </a:t>
            </a:r>
            <a:r>
              <a:rPr lang="en-US" sz="1500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confirm stationarity and find SARIMA Model.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571500" y="57150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B3954"/>
                </a:solidFill>
                <a:latin typeface="Merriweather"/>
                <a:ea typeface="Merriweather"/>
                <a:cs typeface="Merriweather"/>
                <a:sym typeface="Merriweather"/>
              </a:rPr>
              <a:t>Workflow: SARIMA</a:t>
            </a:r>
            <a:endParaRPr/>
          </a:p>
        </p:txBody>
      </p:sp>
      <p:pic>
        <p:nvPicPr>
          <p:cNvPr id="134" name="Google Shape;134;p16" title="acf_pacf_original_data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67848" y="388376"/>
            <a:ext cx="4635600" cy="3090400"/>
          </a:xfrm>
          <a:prstGeom prst="rect">
            <a:avLst/>
          </a:prstGeom>
          <a:noFill/>
          <a:ln>
            <a:noFill/>
          </a:ln>
          <a:effectLst>
            <a:outerShdw blurRad="57150" dist="47625" dir="924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35" name="Google Shape;135;p16" title="acf_pacf_seasonal_+_first_differenced_data_d=1_d=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67852" y="3486148"/>
            <a:ext cx="4635600" cy="3090400"/>
          </a:xfrm>
          <a:prstGeom prst="rect">
            <a:avLst/>
          </a:prstGeom>
          <a:noFill/>
          <a:ln>
            <a:noFill/>
          </a:ln>
          <a:effectLst>
            <a:outerShdw blurRad="57150" dist="47625" dir="924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4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>
            <a:off x="571500" y="1762125"/>
            <a:ext cx="5550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B3954"/>
                </a:solidFill>
                <a:latin typeface="Merriweather"/>
                <a:ea typeface="Merriweather"/>
                <a:cs typeface="Merriweather"/>
                <a:sym typeface="Merriweather"/>
              </a:rPr>
              <a:t>Step 2: Model Volatility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571500" y="2295525"/>
            <a:ext cx="41739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After fitting SARIMA, we checked its residuals (the errors).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700775" y="3123750"/>
            <a:ext cx="4306500" cy="23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457200" marR="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6454F"/>
              </a:buClr>
              <a:buSzPts val="1500"/>
              <a:buFont typeface="DM Sans"/>
              <a:buChar char="●"/>
            </a:pPr>
            <a:r>
              <a:rPr lang="en-US" sz="1500" b="1" i="0" u="none" strike="noStrike" cap="none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Finding:</a:t>
            </a:r>
            <a:r>
              <a:rPr lang="en-US" sz="1500" b="0" i="0" u="none" strike="noStrike" cap="none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 The residuals showed </a:t>
            </a:r>
            <a:r>
              <a:rPr lang="en-US" sz="1500" b="1" i="0" u="none" strike="noStrike" cap="none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volatility clustering</a:t>
            </a:r>
            <a:r>
              <a:rPr lang="en-US" sz="1500" b="0" i="0" u="none" strike="noStrike" cap="none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. This means periods of high error and low error were clumped together.</a:t>
            </a:r>
            <a:endParaRPr sz="1500" b="0" i="0" u="none" strike="noStrike" cap="none">
              <a:solidFill>
                <a:srgbClr val="36454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6454F"/>
              </a:buClr>
              <a:buSzPts val="1500"/>
              <a:buFont typeface="DM Sans"/>
              <a:buChar char="●"/>
            </a:pPr>
            <a:r>
              <a:rPr lang="en-US" sz="1500" b="1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Solution:</a:t>
            </a:r>
            <a:r>
              <a:rPr lang="en-US" sz="1500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 We added a </a:t>
            </a:r>
            <a:r>
              <a:rPr lang="en-US" sz="1500" b="1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GARCH</a:t>
            </a:r>
            <a:r>
              <a:rPr lang="en-US" sz="1500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 model to specifically model this non-constant variance.</a:t>
            </a:r>
            <a:endParaRPr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36454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4" name="Google Shape;144;p17"/>
          <p:cNvSpPr txBox="1"/>
          <p:nvPr/>
        </p:nvSpPr>
        <p:spPr>
          <a:xfrm>
            <a:off x="790575" y="3771900"/>
            <a:ext cx="66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571500" y="571500"/>
            <a:ext cx="116016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B3954"/>
                </a:solidFill>
                <a:latin typeface="Merriweather"/>
                <a:ea typeface="Merriweather"/>
                <a:cs typeface="Merriweather"/>
                <a:sym typeface="Merriweather"/>
              </a:rPr>
              <a:t>Workflow: Adding GARCH</a:t>
            </a:r>
            <a:endParaRPr/>
          </a:p>
        </p:txBody>
      </p:sp>
      <p:pic>
        <p:nvPicPr>
          <p:cNvPr id="146" name="Google Shape;146;p17" title="garch_sarima_residual_diagnostic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49775" y="1771650"/>
            <a:ext cx="6703175" cy="3314700"/>
          </a:xfrm>
          <a:prstGeom prst="rect">
            <a:avLst/>
          </a:prstGeom>
          <a:noFill/>
          <a:ln>
            <a:noFill/>
          </a:ln>
          <a:effectLst>
            <a:outerShdw blurRad="57150" dist="47625" dir="606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4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8"/>
          <p:cNvSpPr txBox="1"/>
          <p:nvPr/>
        </p:nvSpPr>
        <p:spPr>
          <a:xfrm>
            <a:off x="571500" y="1762125"/>
            <a:ext cx="5550693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B3954"/>
                </a:solidFill>
                <a:latin typeface="Merriweather"/>
                <a:ea typeface="Merriweather"/>
                <a:cs typeface="Merriweather"/>
                <a:sym typeface="Merriweather"/>
              </a:rPr>
              <a:t>A Deep Learning Approach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571500" y="2295525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The LSTM is a 'black box' model that learns patterns automatically.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714350" y="3130800"/>
            <a:ext cx="4326600" cy="23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457200" marR="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6454F"/>
              </a:buClr>
              <a:buSzPts val="1500"/>
              <a:buFont typeface="DM Sans"/>
              <a:buAutoNum type="arabicPeriod"/>
            </a:pPr>
            <a:r>
              <a:rPr lang="en-US" sz="1500" b="0" i="0" u="none" strike="noStrike" cap="none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Data was scaled (normalized) and transformed into sequential 'windows' (e.g., use 12 months to predict the 13th).</a:t>
            </a:r>
            <a:endParaRPr sz="1500" b="0" i="0" u="none" strike="noStrike" cap="none">
              <a:solidFill>
                <a:srgbClr val="36454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6454F"/>
              </a:buClr>
              <a:buSzPts val="1500"/>
              <a:buFont typeface="DM Sans"/>
              <a:buAutoNum type="arabicPeriod"/>
            </a:pPr>
            <a:r>
              <a:rPr lang="en-US" sz="1500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The model was trained to predict the next time step from a window of past steps.</a:t>
            </a:r>
            <a:endParaRPr sz="1500">
              <a:solidFill>
                <a:srgbClr val="36454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6454F"/>
              </a:buClr>
              <a:buSzPts val="1500"/>
              <a:buFont typeface="DM Sans"/>
              <a:buAutoNum type="arabicPeriod"/>
            </a:pPr>
            <a:r>
              <a:rPr lang="en-US" sz="1500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We monitored training and validation loss to prevent </a:t>
            </a:r>
            <a:r>
              <a:rPr lang="en-US" sz="1500" b="1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overfitting</a:t>
            </a:r>
            <a:r>
              <a:rPr lang="en-US" sz="1500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1500">
              <a:solidFill>
                <a:srgbClr val="36454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5" name="Google Shape;155;p1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B3954"/>
                </a:solidFill>
                <a:latin typeface="Merriweather"/>
                <a:ea typeface="Merriweather"/>
                <a:cs typeface="Merriweather"/>
                <a:sym typeface="Merriweather"/>
              </a:rPr>
              <a:t>Workflow: Building the LSTM</a:t>
            </a:r>
            <a:endParaRPr/>
          </a:p>
        </p:txBody>
      </p:sp>
      <p:pic>
        <p:nvPicPr>
          <p:cNvPr id="156" name="Google Shape;156;p18" title="lstm_loss.png"/>
          <p:cNvPicPr preferRelativeResize="0"/>
          <p:nvPr/>
        </p:nvPicPr>
        <p:blipFill rotWithShape="1">
          <a:blip r:embed="rId4">
            <a:alphaModFix/>
          </a:blip>
          <a:srcRect l="5794" r="6548"/>
          <a:stretch/>
        </p:blipFill>
        <p:spPr>
          <a:xfrm>
            <a:off x="5505300" y="1943100"/>
            <a:ext cx="6406299" cy="3381650"/>
          </a:xfrm>
          <a:prstGeom prst="rect">
            <a:avLst/>
          </a:prstGeom>
          <a:noFill/>
          <a:ln>
            <a:noFill/>
          </a:ln>
          <a:effectLst>
            <a:outerShdw blurRad="57150" dist="47625" dir="60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4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>
            <a:off x="436959" y="1685925"/>
            <a:ext cx="5650706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B3954"/>
                </a:solidFill>
                <a:latin typeface="Merriweather"/>
                <a:ea typeface="Merriweather"/>
                <a:cs typeface="Merriweather"/>
                <a:sym typeface="Merriweather"/>
              </a:rPr>
              <a:t>SARIMA Forecast</a:t>
            </a:r>
            <a:endParaRPr/>
          </a:p>
        </p:txBody>
      </p:sp>
      <p:sp>
        <p:nvSpPr>
          <p:cNvPr id="163" name="Google Shape;163;p19"/>
          <p:cNvSpPr txBox="1"/>
          <p:nvPr/>
        </p:nvSpPr>
        <p:spPr>
          <a:xfrm>
            <a:off x="571500" y="5697005"/>
            <a:ext cx="5381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Captures the trend and seasonality well.</a:t>
            </a:r>
            <a:endParaRPr/>
          </a:p>
        </p:txBody>
      </p:sp>
      <p:sp>
        <p:nvSpPr>
          <p:cNvPr id="164" name="Google Shape;164;p19"/>
          <p:cNvSpPr txBox="1"/>
          <p:nvPr/>
        </p:nvSpPr>
        <p:spPr>
          <a:xfrm>
            <a:off x="6104334" y="1685925"/>
            <a:ext cx="5650706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B3954"/>
                </a:solidFill>
                <a:latin typeface="Merriweather"/>
                <a:ea typeface="Merriweather"/>
                <a:cs typeface="Merriweather"/>
                <a:sym typeface="Merriweather"/>
              </a:rPr>
              <a:t>Prophet Forecast</a:t>
            </a: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6238875" y="5695950"/>
            <a:ext cx="53816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Also follows the main patterns effectively.</a:t>
            </a: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571500" y="57150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B3954"/>
                </a:solidFill>
                <a:latin typeface="Merriweather"/>
                <a:ea typeface="Merriweather"/>
                <a:cs typeface="Merriweather"/>
                <a:sym typeface="Merriweather"/>
              </a:rPr>
              <a:t>Results:</a:t>
            </a:r>
            <a:endParaRPr/>
          </a:p>
        </p:txBody>
      </p:sp>
      <p:pic>
        <p:nvPicPr>
          <p:cNvPr id="167" name="Google Shape;167;p19" title="sarima_full_forecast_plo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3713" y="2322080"/>
            <a:ext cx="5801925" cy="3081674"/>
          </a:xfrm>
          <a:prstGeom prst="rect">
            <a:avLst/>
          </a:prstGeom>
          <a:noFill/>
          <a:ln>
            <a:noFill/>
          </a:ln>
          <a:effectLst>
            <a:outerShdw blurRad="57150" dist="76200" dir="666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68" name="Google Shape;168;p19" title="prophet_full_forecast_plot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56362" y="2322075"/>
            <a:ext cx="5801925" cy="3081650"/>
          </a:xfrm>
          <a:prstGeom prst="rect">
            <a:avLst/>
          </a:prstGeom>
          <a:noFill/>
          <a:ln>
            <a:noFill/>
          </a:ln>
          <a:effectLst>
            <a:outerShdw blurRad="57150" dist="76200" dir="666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4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0"/>
          <p:cNvSpPr txBox="1"/>
          <p:nvPr/>
        </p:nvSpPr>
        <p:spPr>
          <a:xfrm>
            <a:off x="436959" y="1685925"/>
            <a:ext cx="5650706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B3954"/>
                </a:solidFill>
                <a:latin typeface="Merriweather"/>
                <a:ea typeface="Merriweather"/>
                <a:cs typeface="Merriweather"/>
                <a:sym typeface="Merriweather"/>
              </a:rPr>
              <a:t>ETS (Holt-Winters) Forecast</a:t>
            </a:r>
            <a:endParaRPr/>
          </a:p>
        </p:txBody>
      </p:sp>
      <p:sp>
        <p:nvSpPr>
          <p:cNvPr id="175" name="Google Shape;175;p20"/>
          <p:cNvSpPr txBox="1"/>
          <p:nvPr/>
        </p:nvSpPr>
        <p:spPr>
          <a:xfrm>
            <a:off x="571500" y="5695950"/>
            <a:ext cx="53816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A classic statistical fit.</a:t>
            </a:r>
            <a:endParaRPr/>
          </a:p>
        </p:txBody>
      </p:sp>
      <p:sp>
        <p:nvSpPr>
          <p:cNvPr id="176" name="Google Shape;176;p20"/>
          <p:cNvSpPr txBox="1"/>
          <p:nvPr/>
        </p:nvSpPr>
        <p:spPr>
          <a:xfrm>
            <a:off x="6104334" y="1685925"/>
            <a:ext cx="5650706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B3954"/>
                </a:solidFill>
                <a:latin typeface="Merriweather"/>
                <a:ea typeface="Merriweather"/>
                <a:cs typeface="Merriweather"/>
                <a:sym typeface="Merriweather"/>
              </a:rPr>
              <a:t>LSTM Forecast</a:t>
            </a:r>
            <a:endParaRPr/>
          </a:p>
        </p:txBody>
      </p:sp>
      <p:sp>
        <p:nvSpPr>
          <p:cNvPr id="177" name="Google Shape;177;p20"/>
          <p:cNvSpPr txBox="1"/>
          <p:nvPr/>
        </p:nvSpPr>
        <p:spPr>
          <a:xfrm>
            <a:off x="6238875" y="5695950"/>
            <a:ext cx="53816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The deep learning model's fit.</a:t>
            </a:r>
            <a:endParaRPr/>
          </a:p>
        </p:txBody>
      </p:sp>
      <p:sp>
        <p:nvSpPr>
          <p:cNvPr id="178" name="Google Shape;178;p20"/>
          <p:cNvSpPr txBox="1"/>
          <p:nvPr/>
        </p:nvSpPr>
        <p:spPr>
          <a:xfrm>
            <a:off x="571500" y="57150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B3954"/>
                </a:solidFill>
                <a:latin typeface="Merriweather"/>
                <a:ea typeface="Merriweather"/>
                <a:cs typeface="Merriweather"/>
                <a:sym typeface="Merriweather"/>
              </a:rPr>
              <a:t>Results:</a:t>
            </a:r>
            <a:endParaRPr/>
          </a:p>
        </p:txBody>
      </p:sp>
      <p:pic>
        <p:nvPicPr>
          <p:cNvPr id="179" name="Google Shape;179;p20" title="ets_full_forecast_plo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5750" y="2315600"/>
            <a:ext cx="5800451" cy="3093584"/>
          </a:xfrm>
          <a:prstGeom prst="rect">
            <a:avLst/>
          </a:prstGeom>
          <a:noFill/>
          <a:ln>
            <a:noFill/>
          </a:ln>
          <a:effectLst>
            <a:outerShdw blurRad="57150" dist="66675" dir="66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80" name="Google Shape;180;p20" title="future_forecast_84_steps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05800" y="2315600"/>
            <a:ext cx="5800451" cy="3093576"/>
          </a:xfrm>
          <a:prstGeom prst="rect">
            <a:avLst/>
          </a:prstGeom>
          <a:noFill/>
          <a:ln>
            <a:noFill/>
          </a:ln>
          <a:effectLst>
            <a:outerShdw blurRad="57150" dist="66675" dir="66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4"/>
        </a:solid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1"/>
          <p:cNvSpPr txBox="1"/>
          <p:nvPr/>
        </p:nvSpPr>
        <p:spPr>
          <a:xfrm>
            <a:off x="571500" y="2181225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We compared all models on a held-out test set. Lower scores are better.</a:t>
            </a:r>
            <a:endParaRPr/>
          </a:p>
        </p:txBody>
      </p:sp>
      <p:graphicFrame>
        <p:nvGraphicFramePr>
          <p:cNvPr id="187" name="Google Shape;187;p21"/>
          <p:cNvGraphicFramePr/>
          <p:nvPr/>
        </p:nvGraphicFramePr>
        <p:xfrm>
          <a:off x="571500" y="2752725"/>
          <a:ext cx="11049000" cy="3067000"/>
        </p:xfrm>
        <a:graphic>
          <a:graphicData uri="http://schemas.openxmlformats.org/drawingml/2006/table">
            <a:tbl>
              <a:tblPr firstRow="1" bandRow="1">
                <a:noFill/>
                <a:tableStyleId>{511E7DA7-95DF-43AA-82C6-97A1DF5EB666}</a:tableStyleId>
              </a:tblPr>
              <a:tblGrid>
                <a:gridCol w="2247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9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13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09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3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B3954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Model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D7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B3954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MAE (Avg. Error)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D7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B3954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RMSE (Penalizes Big Errors)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D7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B3954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MAPE (Avg. % Error)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D7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3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6454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SARIMA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6454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2.4351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6454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3.2875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6454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2.36%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3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6454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ETS (Holt-Winters)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6454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4.0925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6454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4.8860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6454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3.89%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3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6454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Prophet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6454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3.4321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6454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4.1965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6454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3.43%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3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6454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LSTM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6454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3.3808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6454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2.6463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6454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2.61%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8" name="Google Shape;188;p21"/>
          <p:cNvSpPr/>
          <p:nvPr/>
        </p:nvSpPr>
        <p:spPr>
          <a:xfrm>
            <a:off x="571500" y="3376612"/>
            <a:ext cx="2247155" cy="9525"/>
          </a:xfrm>
          <a:prstGeom prst="rect">
            <a:avLst/>
          </a:prstGeom>
          <a:solidFill>
            <a:srgbClr val="BFD7E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1"/>
          <p:cNvSpPr/>
          <p:nvPr/>
        </p:nvSpPr>
        <p:spPr>
          <a:xfrm>
            <a:off x="2818655" y="3376612"/>
            <a:ext cx="2379315" cy="9525"/>
          </a:xfrm>
          <a:prstGeom prst="rect">
            <a:avLst/>
          </a:prstGeom>
          <a:solidFill>
            <a:srgbClr val="BFD7E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1"/>
          <p:cNvSpPr/>
          <p:nvPr/>
        </p:nvSpPr>
        <p:spPr>
          <a:xfrm>
            <a:off x="5197971" y="3376612"/>
            <a:ext cx="3613100" cy="9525"/>
          </a:xfrm>
          <a:prstGeom prst="rect">
            <a:avLst/>
          </a:prstGeom>
          <a:solidFill>
            <a:srgbClr val="BFD7E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1"/>
          <p:cNvSpPr/>
          <p:nvPr/>
        </p:nvSpPr>
        <p:spPr>
          <a:xfrm>
            <a:off x="8811071" y="3376612"/>
            <a:ext cx="2809428" cy="9525"/>
          </a:xfrm>
          <a:prstGeom prst="rect">
            <a:avLst/>
          </a:prstGeom>
          <a:solidFill>
            <a:srgbClr val="BFD7E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1"/>
          <p:cNvSpPr/>
          <p:nvPr/>
        </p:nvSpPr>
        <p:spPr>
          <a:xfrm>
            <a:off x="571500" y="3986212"/>
            <a:ext cx="2247155" cy="9525"/>
          </a:xfrm>
          <a:prstGeom prst="rect">
            <a:avLst/>
          </a:prstGeom>
          <a:solidFill>
            <a:srgbClr val="BFD7E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1"/>
          <p:cNvSpPr/>
          <p:nvPr/>
        </p:nvSpPr>
        <p:spPr>
          <a:xfrm>
            <a:off x="2818655" y="3986212"/>
            <a:ext cx="2379315" cy="9525"/>
          </a:xfrm>
          <a:prstGeom prst="rect">
            <a:avLst/>
          </a:prstGeom>
          <a:solidFill>
            <a:srgbClr val="BFD7E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1"/>
          <p:cNvSpPr/>
          <p:nvPr/>
        </p:nvSpPr>
        <p:spPr>
          <a:xfrm>
            <a:off x="5197971" y="3986212"/>
            <a:ext cx="3613100" cy="9525"/>
          </a:xfrm>
          <a:prstGeom prst="rect">
            <a:avLst/>
          </a:prstGeom>
          <a:solidFill>
            <a:srgbClr val="BFD7E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1"/>
          <p:cNvSpPr/>
          <p:nvPr/>
        </p:nvSpPr>
        <p:spPr>
          <a:xfrm>
            <a:off x="8811071" y="3986212"/>
            <a:ext cx="2809428" cy="9525"/>
          </a:xfrm>
          <a:prstGeom prst="rect">
            <a:avLst/>
          </a:prstGeom>
          <a:solidFill>
            <a:srgbClr val="BFD7E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1"/>
          <p:cNvSpPr/>
          <p:nvPr/>
        </p:nvSpPr>
        <p:spPr>
          <a:xfrm>
            <a:off x="571500" y="4595812"/>
            <a:ext cx="2247155" cy="9525"/>
          </a:xfrm>
          <a:prstGeom prst="rect">
            <a:avLst/>
          </a:prstGeom>
          <a:solidFill>
            <a:srgbClr val="BFD7E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1"/>
          <p:cNvSpPr/>
          <p:nvPr/>
        </p:nvSpPr>
        <p:spPr>
          <a:xfrm>
            <a:off x="2818655" y="4595812"/>
            <a:ext cx="2379315" cy="9525"/>
          </a:xfrm>
          <a:prstGeom prst="rect">
            <a:avLst/>
          </a:prstGeom>
          <a:solidFill>
            <a:srgbClr val="BFD7E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1"/>
          <p:cNvSpPr/>
          <p:nvPr/>
        </p:nvSpPr>
        <p:spPr>
          <a:xfrm>
            <a:off x="5197971" y="4595812"/>
            <a:ext cx="3613100" cy="9525"/>
          </a:xfrm>
          <a:prstGeom prst="rect">
            <a:avLst/>
          </a:prstGeom>
          <a:solidFill>
            <a:srgbClr val="BFD7E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1"/>
          <p:cNvSpPr/>
          <p:nvPr/>
        </p:nvSpPr>
        <p:spPr>
          <a:xfrm>
            <a:off x="8811071" y="4595812"/>
            <a:ext cx="2809428" cy="9525"/>
          </a:xfrm>
          <a:prstGeom prst="rect">
            <a:avLst/>
          </a:prstGeom>
          <a:solidFill>
            <a:srgbClr val="BFD7E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1"/>
          <p:cNvSpPr/>
          <p:nvPr/>
        </p:nvSpPr>
        <p:spPr>
          <a:xfrm>
            <a:off x="571500" y="5205412"/>
            <a:ext cx="2247155" cy="9525"/>
          </a:xfrm>
          <a:prstGeom prst="rect">
            <a:avLst/>
          </a:prstGeom>
          <a:solidFill>
            <a:srgbClr val="BFD7E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1"/>
          <p:cNvSpPr/>
          <p:nvPr/>
        </p:nvSpPr>
        <p:spPr>
          <a:xfrm>
            <a:off x="2818655" y="5205412"/>
            <a:ext cx="2379315" cy="9525"/>
          </a:xfrm>
          <a:prstGeom prst="rect">
            <a:avLst/>
          </a:prstGeom>
          <a:solidFill>
            <a:srgbClr val="BFD7E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1"/>
          <p:cNvSpPr/>
          <p:nvPr/>
        </p:nvSpPr>
        <p:spPr>
          <a:xfrm>
            <a:off x="5197971" y="5205412"/>
            <a:ext cx="3613100" cy="9525"/>
          </a:xfrm>
          <a:prstGeom prst="rect">
            <a:avLst/>
          </a:prstGeom>
          <a:solidFill>
            <a:srgbClr val="BFD7E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1"/>
          <p:cNvSpPr/>
          <p:nvPr/>
        </p:nvSpPr>
        <p:spPr>
          <a:xfrm>
            <a:off x="8811071" y="5205412"/>
            <a:ext cx="2809428" cy="9525"/>
          </a:xfrm>
          <a:prstGeom prst="rect">
            <a:avLst/>
          </a:prstGeom>
          <a:solidFill>
            <a:srgbClr val="BFD7E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1"/>
          <p:cNvSpPr txBox="1"/>
          <p:nvPr/>
        </p:nvSpPr>
        <p:spPr>
          <a:xfrm>
            <a:off x="295275" y="57150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B3954"/>
                </a:solidFill>
                <a:latin typeface="Merriweather"/>
                <a:ea typeface="Merriweather"/>
                <a:cs typeface="Merriweather"/>
                <a:sym typeface="Merriweather"/>
              </a:rPr>
              <a:t>Quantitative Results: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4"/>
        </a:solidFill>
        <a:effectLst/>
      </p:bgPr>
    </p:bg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57400"/>
            <a:ext cx="5286375" cy="369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057400"/>
            <a:ext cx="5286375" cy="3695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2"/>
          <p:cNvSpPr txBox="1"/>
          <p:nvPr/>
        </p:nvSpPr>
        <p:spPr>
          <a:xfrm>
            <a:off x="962025" y="2447925"/>
            <a:ext cx="4730591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08E45"/>
                </a:solidFill>
                <a:latin typeface="Merriweather"/>
                <a:ea typeface="Merriweather"/>
                <a:cs typeface="Merriweather"/>
                <a:sym typeface="Merriweather"/>
              </a:rPr>
              <a:t>Best Accuracy</a:t>
            </a:r>
            <a:endParaRPr/>
          </a:p>
        </p:txBody>
      </p:sp>
      <p:sp>
        <p:nvSpPr>
          <p:cNvPr id="213" name="Google Shape;213;p22"/>
          <p:cNvSpPr txBox="1"/>
          <p:nvPr/>
        </p:nvSpPr>
        <p:spPr>
          <a:xfrm>
            <a:off x="962025" y="2981325"/>
            <a:ext cx="450532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SARIMA:</a:t>
            </a:r>
            <a:r>
              <a:rPr lang="en-US" sz="1500" b="0" i="0" u="none" strike="noStrike" cap="none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 Had the lowest *average error* (MAE &amp; MAPE). A fantastic, interpretable baseline for this dataset.</a:t>
            </a:r>
            <a:endParaRPr/>
          </a:p>
        </p:txBody>
      </p:sp>
      <p:sp>
        <p:nvSpPr>
          <p:cNvPr id="214" name="Google Shape;214;p22"/>
          <p:cNvSpPr txBox="1"/>
          <p:nvPr/>
        </p:nvSpPr>
        <p:spPr>
          <a:xfrm>
            <a:off x="962025" y="4029075"/>
            <a:ext cx="450532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LSTM:</a:t>
            </a:r>
            <a:r>
              <a:rPr lang="en-US" sz="1500" b="0" i="0" u="none" strike="noStrike" cap="none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 Had the lowest *RMSE*. This suggests it was the best at avoiding large, costly errors, likely by capturing non-linear patterns.</a:t>
            </a:r>
            <a:endParaRPr/>
          </a:p>
        </p:txBody>
      </p:sp>
      <p:sp>
        <p:nvSpPr>
          <p:cNvPr id="215" name="Google Shape;215;p22"/>
          <p:cNvSpPr txBox="1"/>
          <p:nvPr/>
        </p:nvSpPr>
        <p:spPr>
          <a:xfrm>
            <a:off x="6724650" y="2447925"/>
            <a:ext cx="4730591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08E45"/>
                </a:solidFill>
                <a:latin typeface="Merriweather"/>
                <a:ea typeface="Merriweather"/>
                <a:cs typeface="Merriweather"/>
                <a:sym typeface="Merriweather"/>
              </a:rPr>
              <a:t>Best Interpretability</a:t>
            </a:r>
            <a:endParaRPr/>
          </a:p>
        </p:txBody>
      </p:sp>
      <p:sp>
        <p:nvSpPr>
          <p:cNvPr id="216" name="Google Shape;216;p22"/>
          <p:cNvSpPr txBox="1"/>
          <p:nvPr/>
        </p:nvSpPr>
        <p:spPr>
          <a:xfrm>
            <a:off x="6724650" y="2981325"/>
            <a:ext cx="4505325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PROPHET:</a:t>
            </a:r>
            <a:r>
              <a:rPr lang="en-US" sz="1500" b="0" i="0" u="none" strike="noStrike" cap="none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 While not the most accurate here, its strength is *speed and interpretability*. You can easily plot its components (trend, seasonality) to see *why* it made its forecast.</a:t>
            </a:r>
            <a:endParaRPr/>
          </a:p>
        </p:txBody>
      </p:sp>
      <p:sp>
        <p:nvSpPr>
          <p:cNvPr id="217" name="Google Shape;217;p22"/>
          <p:cNvSpPr txBox="1"/>
          <p:nvPr/>
        </p:nvSpPr>
        <p:spPr>
          <a:xfrm>
            <a:off x="6724650" y="4314825"/>
            <a:ext cx="450532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ETS:</a:t>
            </a:r>
            <a:r>
              <a:rPr lang="en-US" sz="1500" b="0" i="0" u="none" strike="noStrike" cap="none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 A clear, simple statistical competitor, but it was less effective *on this specific dataset* than the more complex SARIMA.</a:t>
            </a:r>
            <a:endParaRPr/>
          </a:p>
        </p:txBody>
      </p:sp>
      <p:sp>
        <p:nvSpPr>
          <p:cNvPr id="218" name="Google Shape;218;p22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B3954"/>
                </a:solidFill>
                <a:latin typeface="Merriweather"/>
                <a:ea typeface="Merriweather"/>
                <a:cs typeface="Merriweather"/>
                <a:sym typeface="Merriweather"/>
              </a:rPr>
              <a:t>Discussion: The Trade-Off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4"/>
        </a:solidFill>
        <a:effectLst/>
      </p:bgPr>
    </p:bg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3"/>
          <p:cNvSpPr txBox="1"/>
          <p:nvPr/>
        </p:nvSpPr>
        <p:spPr>
          <a:xfrm>
            <a:off x="1198450" y="542300"/>
            <a:ext cx="10008900" cy="3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1" b="1" i="0" u="none" strike="noStrike" cap="none">
                <a:solidFill>
                  <a:srgbClr val="0B3954"/>
                </a:solidFill>
                <a:latin typeface="Merriweather"/>
                <a:ea typeface="Merriweather"/>
                <a:cs typeface="Merriweather"/>
                <a:sym typeface="Merriweather"/>
              </a:rPr>
              <a:t>Conclusion</a:t>
            </a:r>
            <a:endParaRPr sz="1556"/>
          </a:p>
        </p:txBody>
      </p:sp>
      <p:sp>
        <p:nvSpPr>
          <p:cNvPr id="225" name="Google Shape;225;p23"/>
          <p:cNvSpPr txBox="1"/>
          <p:nvPr/>
        </p:nvSpPr>
        <p:spPr>
          <a:xfrm>
            <a:off x="1198450" y="2941899"/>
            <a:ext cx="10008900" cy="3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1" b="1" i="0" u="none" strike="noStrike" cap="none">
                <a:solidFill>
                  <a:srgbClr val="0B3954"/>
                </a:solidFill>
                <a:latin typeface="Merriweather"/>
                <a:ea typeface="Merriweather"/>
                <a:cs typeface="Merriweather"/>
                <a:sym typeface="Merriweather"/>
              </a:rPr>
              <a:t>Future Work</a:t>
            </a:r>
            <a:endParaRPr sz="1556"/>
          </a:p>
        </p:txBody>
      </p:sp>
      <p:sp>
        <p:nvSpPr>
          <p:cNvPr id="226" name="Google Shape;226;p23"/>
          <p:cNvSpPr txBox="1"/>
          <p:nvPr/>
        </p:nvSpPr>
        <p:spPr>
          <a:xfrm>
            <a:off x="1675060" y="1188371"/>
            <a:ext cx="9055800" cy="1806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indent="-34290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1834" b="0" i="0" u="none" strike="noStrike" cap="none" dirty="0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Successfully compared </a:t>
            </a:r>
            <a:r>
              <a:rPr lang="en-US" sz="1834" dirty="0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four</a:t>
            </a:r>
            <a:r>
              <a:rPr lang="en-US" sz="1834" b="0" i="0" u="none" strike="noStrike" cap="none" dirty="0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 models, from statistical to deep learning</a:t>
            </a:r>
          </a:p>
          <a:p>
            <a:pPr marL="342900" indent="-34290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1834" dirty="0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The "best" model depends on the goal: </a:t>
            </a:r>
            <a:r>
              <a:rPr lang="en-US" sz="1834" b="1" dirty="0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Accuracy (SARIMA/LSTM)</a:t>
            </a:r>
            <a:r>
              <a:rPr lang="en-US" sz="1834" dirty="0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 vs. </a:t>
            </a:r>
            <a:r>
              <a:rPr lang="en-US" sz="1834" b="1" dirty="0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Interpretability (Prophet)</a:t>
            </a:r>
            <a:r>
              <a:rPr lang="en-US" sz="1834" dirty="0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lang="en-US" sz="1556" dirty="0"/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34" b="0" i="0" u="none" strike="noStrike" cap="none" dirty="0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1556" dirty="0"/>
          </a:p>
        </p:txBody>
      </p:sp>
      <p:sp>
        <p:nvSpPr>
          <p:cNvPr id="228" name="Google Shape;228;p23"/>
          <p:cNvSpPr txBox="1"/>
          <p:nvPr/>
        </p:nvSpPr>
        <p:spPr>
          <a:xfrm>
            <a:off x="1675060" y="3587971"/>
            <a:ext cx="9055800" cy="30926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834" b="1" i="0" u="none" strike="noStrike" cap="none" dirty="0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Hybrid Models:</a:t>
            </a:r>
            <a:r>
              <a:rPr lang="en-US" sz="1834" b="0" i="0" u="none" strike="noStrike" cap="none" dirty="0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 Combine SARIMA (for linear patterns) with an LSTM (for non-linear residuals).</a:t>
            </a:r>
            <a:r>
              <a:rPr kumimoji="0" lang="en-US" sz="1834" b="1" i="0" u="none" strike="noStrike" kern="0" cap="none" spc="0" normalizeH="0" baseline="0" noProof="0" dirty="0">
                <a:ln>
                  <a:noFill/>
                </a:ln>
                <a:solidFill>
                  <a:srgbClr val="36454F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34" b="1" i="0" u="none" strike="noStrike" kern="0" cap="none" spc="0" normalizeH="0" baseline="0" noProof="0" dirty="0">
                <a:ln>
                  <a:noFill/>
                </a:ln>
                <a:solidFill>
                  <a:srgbClr val="36454F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Multivariate Analysis:</a:t>
            </a:r>
            <a:r>
              <a:rPr kumimoji="0" lang="en-US" sz="1834" b="0" i="0" u="none" strike="noStrike" kern="0" cap="none" spc="0" normalizeH="0" baseline="0" noProof="0" dirty="0">
                <a:ln>
                  <a:noFill/>
                </a:ln>
                <a:solidFill>
                  <a:srgbClr val="36454F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 Add other variables (e.g., weather, holidays) using VAR or multivariate LSTMs.</a:t>
            </a:r>
            <a:r>
              <a:rPr kumimoji="0" lang="en-US" sz="1834" b="1" i="0" u="none" strike="noStrike" kern="0" cap="none" spc="0" normalizeH="0" baseline="0" noProof="0" dirty="0">
                <a:ln>
                  <a:noFill/>
                </a:ln>
                <a:solidFill>
                  <a:srgbClr val="36454F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34" b="1" i="0" u="none" strike="noStrike" kern="0" cap="none" spc="0" normalizeH="0" baseline="0" noProof="0" dirty="0">
                <a:ln>
                  <a:noFill/>
                </a:ln>
                <a:solidFill>
                  <a:srgbClr val="36454F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Probabilistic Forecasting:</a:t>
            </a:r>
            <a:r>
              <a:rPr kumimoji="0" lang="en-US" sz="1834" b="0" i="0" u="none" strike="noStrike" kern="0" cap="none" spc="0" normalizeH="0" baseline="0" noProof="0" dirty="0">
                <a:ln>
                  <a:noFill/>
                </a:ln>
                <a:solidFill>
                  <a:srgbClr val="36454F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 Quantify the *uncertainty* of the forecasts, not just a single-point prediction.</a:t>
            </a:r>
            <a:endParaRPr kumimoji="0" lang="en-US" sz="1556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56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4"/>
        </a:solidFill>
        <a:effectLst/>
      </p:bgPr>
    </p:bg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4"/>
          <p:cNvSpPr txBox="1"/>
          <p:nvPr/>
        </p:nvSpPr>
        <p:spPr>
          <a:xfrm>
            <a:off x="295275" y="2481262"/>
            <a:ext cx="11601450" cy="96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0B3954"/>
                </a:solidFill>
                <a:latin typeface="Merriweather"/>
                <a:ea typeface="Merriweather"/>
                <a:cs typeface="Merriweather"/>
                <a:sym typeface="Merriweather"/>
              </a:rPr>
              <a:t>Questions?</a:t>
            </a:r>
            <a:endParaRPr/>
          </a:p>
        </p:txBody>
      </p:sp>
      <p:sp>
        <p:nvSpPr>
          <p:cNvPr id="237" name="Google Shape;237;p24"/>
          <p:cNvSpPr txBox="1"/>
          <p:nvPr/>
        </p:nvSpPr>
        <p:spPr>
          <a:xfrm>
            <a:off x="571500" y="3709987"/>
            <a:ext cx="11049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6454F"/>
                </a:solidFill>
                <a:latin typeface="DM Sans"/>
                <a:ea typeface="DM Sans"/>
                <a:cs typeface="DM Sans"/>
                <a:sym typeface="DM Sans"/>
              </a:rPr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674</Words>
  <Application>Microsoft Office PowerPoint</Application>
  <PresentationFormat>Widescreen</PresentationFormat>
  <Paragraphs>88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Calibri</vt:lpstr>
      <vt:lpstr>Arial</vt:lpstr>
      <vt:lpstr>DM Sans</vt:lpstr>
      <vt:lpstr>Merriweather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Dev Raj</cp:lastModifiedBy>
  <cp:revision>1</cp:revision>
  <dcterms:modified xsi:type="dcterms:W3CDTF">2025-11-19T10:41:21Z</dcterms:modified>
</cp:coreProperties>
</file>