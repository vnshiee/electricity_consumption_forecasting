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embeddedFontLst>
    <p:embeddedFont>
      <p:font typeface="DM Sans" pitchFamily="2" charset="0"/>
      <p:regular r:id="rId18"/>
      <p:bold r:id="rId19"/>
      <p:italic r:id="rId20"/>
      <p:boldItalic r:id="rId21"/>
    </p:embeddedFont>
    <p:embeddedFont>
      <p:font typeface="Merriweather" panose="00000500000000000000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7BCA6D0-62C2-4A87-9980-01C5CBE22EAD}">
  <a:tblStyle styleId="{17BCA6D0-62C2-4A87-9980-01C5CBE22EA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384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64a445e97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g3a64a445e97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64a445e97_1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g3a64a445e97_1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64a445e97_1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g3a64a445e97_1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126009"/>
            <a:ext cx="11601450" cy="16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00" b="1" i="0" u="none" strike="noStrike" cap="none" dirty="0">
                <a:solidFill>
                  <a:srgbClr val="0B3954"/>
                </a:solidFill>
                <a:latin typeface="Merriweather"/>
                <a:ea typeface="Merriweather"/>
                <a:cs typeface="Merriweather"/>
                <a:sym typeface="Merriweather"/>
              </a:rPr>
              <a:t>Electricity Consumption Using Time Series Analysis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630020" y="3954809"/>
            <a:ext cx="11049000" cy="65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Vanshika Gupta, Dev Raj, Rishitha Pamu, Shruti </a:t>
            </a:r>
            <a:r>
              <a:rPr lang="en-US" sz="1650" b="0" i="0" u="none" strike="noStrike" cap="none" dirty="0" err="1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Wadatkar</a:t>
            </a:r>
            <a:endParaRPr lang="en-US" sz="1650" b="0" i="0" u="none" strike="noStrike" cap="none" dirty="0">
              <a:solidFill>
                <a:srgbClr val="36454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lnSpc>
                <a:spcPct val="12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 Data Science and Engineering, IISER Bhopal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571500" y="1762125"/>
            <a:ext cx="555069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B3954"/>
                </a:solidFill>
                <a:latin typeface="Merriweather"/>
                <a:ea typeface="Merriweather"/>
                <a:cs typeface="Merriweather"/>
                <a:sym typeface="Merriweather"/>
              </a:rPr>
              <a:t>Our Data: Key Features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571500" y="2295525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The dataset is a univariate time series (one variable over time). We found two key patterns: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571500" y="4533900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We use additive decomposition to visually separate these components.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790575" y="3057525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857250" y="3057525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It has a clear </a:t>
            </a:r>
            <a:r>
              <a:rPr lang="en-US" sz="1500" b="1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upward trend</a:t>
            </a:r>
            <a:r>
              <a:rPr lang="en-US" sz="150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 (consumption is increasing over the years).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790575" y="3771900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57250" y="3771900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It has </a:t>
            </a:r>
            <a:r>
              <a:rPr lang="en-US" sz="1500" b="1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strong seasonality</a:t>
            </a:r>
            <a:r>
              <a:rPr lang="en-US" sz="150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 (a repeating pattern of peaks and valleys each year).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B3954"/>
                </a:solidFill>
                <a:latin typeface="Merriweather"/>
                <a:ea typeface="Merriweather"/>
                <a:cs typeface="Merriweather"/>
                <a:sym typeface="Merriweather"/>
              </a:rPr>
              <a:t>Understanding the Data</a:t>
            </a:r>
            <a:endParaRPr/>
          </a:p>
        </p:txBody>
      </p:sp>
      <p:pic>
        <p:nvPicPr>
          <p:cNvPr id="100" name="Google Shape;100;p14" title="time_series_decomposition.png"/>
          <p:cNvPicPr preferRelativeResize="0"/>
          <p:nvPr/>
        </p:nvPicPr>
        <p:blipFill rotWithShape="1">
          <a:blip r:embed="rId4">
            <a:alphaModFix/>
          </a:blip>
          <a:srcRect l="6129"/>
          <a:stretch/>
        </p:blipFill>
        <p:spPr>
          <a:xfrm>
            <a:off x="6836166" y="1416848"/>
            <a:ext cx="4751685" cy="3852849"/>
          </a:xfrm>
          <a:prstGeom prst="rect">
            <a:avLst/>
          </a:prstGeom>
          <a:noFill/>
          <a:ln>
            <a:noFill/>
          </a:ln>
          <a:effectLst>
            <a:outerShdw blurRad="57150" dist="47625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571500" y="1762125"/>
            <a:ext cx="5550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B3954"/>
                </a:solidFill>
                <a:latin typeface="Merriweather"/>
                <a:ea typeface="Merriweather"/>
                <a:cs typeface="Merriweather"/>
                <a:sym typeface="Merriweather"/>
              </a:rPr>
              <a:t>Our Data: Key Features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571500" y="2295525"/>
            <a:ext cx="52863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The dataset is a univariate time series (one variable over time). We found two key patterns: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571500" y="4533900"/>
            <a:ext cx="52863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We use additive decomposition to visually separate these components.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790575" y="3057525"/>
            <a:ext cx="66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857250" y="3057525"/>
            <a:ext cx="50007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It has a clear </a:t>
            </a:r>
            <a:r>
              <a:rPr lang="en-US" sz="1500" b="1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upward trend</a:t>
            </a:r>
            <a:r>
              <a:rPr lang="en-US" sz="150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 (consumption is increasing over the years).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790575" y="3771900"/>
            <a:ext cx="66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857250" y="3771900"/>
            <a:ext cx="50007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It has </a:t>
            </a:r>
            <a:r>
              <a:rPr lang="en-US" sz="1500" b="1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strong seasonality</a:t>
            </a:r>
            <a:r>
              <a:rPr lang="en-US" sz="150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 (a repeating pattern of peaks and valleys each year).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B3954"/>
                </a:solidFill>
                <a:latin typeface="Merriweather"/>
                <a:ea typeface="Merriweather"/>
                <a:cs typeface="Merriweather"/>
                <a:sym typeface="Merriweather"/>
              </a:rPr>
              <a:t>Understanding the Data</a:t>
            </a:r>
            <a:endParaRPr/>
          </a:p>
        </p:txBody>
      </p:sp>
      <p:pic>
        <p:nvPicPr>
          <p:cNvPr id="114" name="Google Shape;114;p15" title="time_series_decomposition.png"/>
          <p:cNvPicPr preferRelativeResize="0"/>
          <p:nvPr/>
        </p:nvPicPr>
        <p:blipFill rotWithShape="1">
          <a:blip r:embed="rId4">
            <a:alphaModFix/>
          </a:blip>
          <a:srcRect l="6129"/>
          <a:stretch/>
        </p:blipFill>
        <p:spPr>
          <a:xfrm>
            <a:off x="6836166" y="1416848"/>
            <a:ext cx="4751685" cy="3852849"/>
          </a:xfrm>
          <a:prstGeom prst="rect">
            <a:avLst/>
          </a:prstGeom>
          <a:noFill/>
          <a:ln>
            <a:noFill/>
          </a:ln>
          <a:effectLst>
            <a:outerShdw blurRad="57150" dist="47625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66962"/>
            <a:ext cx="2547937" cy="3076575"/>
          </a:xfrm>
          <a:prstGeom prst="rect">
            <a:avLst/>
          </a:prstGeom>
          <a:noFill/>
          <a:ln>
            <a:noFill/>
          </a:ln>
          <a:effectLst>
            <a:outerShdw blurRad="57150" dist="57150" dir="6599999" algn="bl" rotWithShape="0">
              <a:srgbClr val="000000">
                <a:alpha val="50000"/>
              </a:srgbClr>
            </a:outerShdw>
          </a:effectLst>
        </p:spPr>
      </p:pic>
      <p:pic>
        <p:nvPicPr>
          <p:cNvPr id="121" name="Google Shape;12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05187" y="2366962"/>
            <a:ext cx="2547937" cy="3076575"/>
          </a:xfrm>
          <a:prstGeom prst="rect">
            <a:avLst/>
          </a:prstGeom>
          <a:noFill/>
          <a:ln>
            <a:noFill/>
          </a:ln>
          <a:effectLst>
            <a:outerShdw blurRad="57150" dist="57150" dir="6599999" algn="bl" rotWithShape="0">
              <a:srgbClr val="000000">
                <a:alpha val="50000"/>
              </a:srgbClr>
            </a:outerShdw>
          </a:effectLst>
        </p:spPr>
      </p:pic>
      <p:pic>
        <p:nvPicPr>
          <p:cNvPr id="122" name="Google Shape;122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8875" y="2366962"/>
            <a:ext cx="2547937" cy="3076575"/>
          </a:xfrm>
          <a:prstGeom prst="rect">
            <a:avLst/>
          </a:prstGeom>
          <a:noFill/>
          <a:ln>
            <a:noFill/>
          </a:ln>
          <a:effectLst>
            <a:outerShdw blurRad="57150" dist="57150" dir="6599999" algn="bl" rotWithShape="0">
              <a:srgbClr val="000000">
                <a:alpha val="50000"/>
              </a:srgbClr>
            </a:outerShdw>
          </a:effectLst>
        </p:spPr>
      </p:pic>
      <p:pic>
        <p:nvPicPr>
          <p:cNvPr id="123" name="Google Shape;12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72562" y="2366962"/>
            <a:ext cx="2547937" cy="3076575"/>
          </a:xfrm>
          <a:prstGeom prst="rect">
            <a:avLst/>
          </a:prstGeom>
          <a:noFill/>
          <a:ln>
            <a:noFill/>
          </a:ln>
          <a:effectLst>
            <a:outerShdw blurRad="57150" dist="57150" dir="6599999" algn="bl" rotWithShape="0">
              <a:srgbClr val="000000">
                <a:alpha val="50000"/>
              </a:srgbClr>
            </a:outerShdw>
          </a:effectLst>
        </p:spPr>
      </p:pic>
      <p:sp>
        <p:nvSpPr>
          <p:cNvPr id="124" name="Google Shape;124;p16"/>
          <p:cNvSpPr txBox="1"/>
          <p:nvPr/>
        </p:nvSpPr>
        <p:spPr>
          <a:xfrm>
            <a:off x="866775" y="2852672"/>
            <a:ext cx="2055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B3954"/>
                </a:solidFill>
                <a:latin typeface="Merriweather"/>
                <a:ea typeface="Merriweather"/>
                <a:cs typeface="Merriweather"/>
                <a:sym typeface="Merriweather"/>
              </a:rPr>
              <a:t>SARIMA &amp; GARCH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866775" y="3999217"/>
            <a:ext cx="19575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Statistical models for linear patterns and residual volatility.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3700462" y="2852672"/>
            <a:ext cx="2055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B3954"/>
                </a:solidFill>
                <a:latin typeface="Merriweather"/>
                <a:ea typeface="Merriweather"/>
                <a:cs typeface="Merriweather"/>
                <a:sym typeface="Merriweather"/>
              </a:rPr>
              <a:t>ETS (Holt-Winters)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3700462" y="3999217"/>
            <a:ext cx="19575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Explicitly models level, trend, and seasonality using smoothing.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6534151" y="2852672"/>
            <a:ext cx="950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B3954"/>
                </a:solidFill>
                <a:latin typeface="Merriweather"/>
                <a:ea typeface="Merriweather"/>
                <a:cs typeface="Merriweather"/>
                <a:sym typeface="Merriweather"/>
              </a:rPr>
              <a:t>Prophet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6534088" y="3999231"/>
            <a:ext cx="19575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A fast, interpretable, and component-based additive model, developed by </a:t>
            </a:r>
            <a:r>
              <a:rPr lang="en-US" sz="1350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F</a:t>
            </a:r>
            <a:r>
              <a:rPr lang="en-US" sz="135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acebook.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9367838" y="2852672"/>
            <a:ext cx="1800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B3954"/>
                </a:solidFill>
                <a:latin typeface="Merriweather"/>
                <a:ea typeface="Merriweather"/>
                <a:cs typeface="Merriweather"/>
                <a:sym typeface="Merriweather"/>
              </a:rPr>
              <a:t>LSTM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9367713" y="3999231"/>
            <a:ext cx="19575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A deep learning model for complex, non-linear patterns.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B3954"/>
                </a:solidFill>
                <a:latin typeface="Merriweather"/>
                <a:ea typeface="Merriweather"/>
                <a:cs typeface="Merriweather"/>
                <a:sym typeface="Merriweather"/>
              </a:rPr>
              <a:t>Our Models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571500" y="1762125"/>
            <a:ext cx="555069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B3954"/>
                </a:solidFill>
                <a:latin typeface="Merriweather"/>
                <a:ea typeface="Merriweather"/>
                <a:cs typeface="Merriweather"/>
                <a:sym typeface="Merriweather"/>
              </a:rPr>
              <a:t>Step 1: Achieve Stationarity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571500" y="2295525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SARIMA requires stationary data (a constant mean and variance).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704850" y="3057525"/>
            <a:ext cx="152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1.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857250" y="3057525"/>
            <a:ext cx="5267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The original data was </a:t>
            </a:r>
            <a:r>
              <a:rPr lang="en-US" sz="1500" b="1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non-stationary</a:t>
            </a:r>
            <a:r>
              <a:rPr lang="en-US" sz="150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 (due to the trend).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704850" y="3486150"/>
            <a:ext cx="1524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2.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857250" y="3486150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We applied </a:t>
            </a:r>
            <a:r>
              <a:rPr lang="en-US" sz="1500" b="1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seasonal (D=1)</a:t>
            </a:r>
            <a:r>
              <a:rPr lang="en-US" sz="150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 and </a:t>
            </a:r>
            <a:r>
              <a:rPr lang="en-US" sz="1500" b="1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first (d=1) differencing</a:t>
            </a:r>
            <a:r>
              <a:rPr lang="en-US" sz="150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 to stabilize it.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704850" y="4200525"/>
            <a:ext cx="1524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3.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857250" y="4200525"/>
            <a:ext cx="50007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We used these ACF/PACF plots on the differenced data to </a:t>
            </a:r>
            <a:r>
              <a:rPr lang="en-US" sz="1500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confirm stationarity and find SARIMA Model.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B3954"/>
                </a:solidFill>
                <a:latin typeface="Merriweather"/>
                <a:ea typeface="Merriweather"/>
                <a:cs typeface="Merriweather"/>
                <a:sym typeface="Merriweather"/>
              </a:rPr>
              <a:t>Workflow: SARIMA</a:t>
            </a:r>
            <a:endParaRPr/>
          </a:p>
        </p:txBody>
      </p:sp>
      <p:pic>
        <p:nvPicPr>
          <p:cNvPr id="147" name="Google Shape;147;p17" title="acf_pacf_original_dat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67848" y="388376"/>
            <a:ext cx="4635600" cy="3090400"/>
          </a:xfrm>
          <a:prstGeom prst="rect">
            <a:avLst/>
          </a:prstGeom>
          <a:noFill/>
          <a:ln>
            <a:noFill/>
          </a:ln>
          <a:effectLst>
            <a:outerShdw blurRad="57150" dist="47625" dir="924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48" name="Google Shape;148;p17" title="acf_pacf_seasonal_+_first_differenced_data_d=1_d=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67852" y="3486148"/>
            <a:ext cx="4635600" cy="3090400"/>
          </a:xfrm>
          <a:prstGeom prst="rect">
            <a:avLst/>
          </a:prstGeom>
          <a:noFill/>
          <a:ln>
            <a:noFill/>
          </a:ln>
          <a:effectLst>
            <a:outerShdw blurRad="57150" dist="47625" dir="924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8"/>
          <p:cNvSpPr txBox="1"/>
          <p:nvPr/>
        </p:nvSpPr>
        <p:spPr>
          <a:xfrm>
            <a:off x="571500" y="1762125"/>
            <a:ext cx="5550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B3954"/>
                </a:solidFill>
                <a:latin typeface="Merriweather"/>
                <a:ea typeface="Merriweather"/>
                <a:cs typeface="Merriweather"/>
                <a:sym typeface="Merriweather"/>
              </a:rPr>
              <a:t>Step 2: Model Volatility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571500" y="2295525"/>
            <a:ext cx="41739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After fitting SARIMA, we checked its residuals (the errors).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700775" y="3123750"/>
            <a:ext cx="4306500" cy="23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457200" marR="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6454F"/>
              </a:buClr>
              <a:buSzPts val="1500"/>
              <a:buFont typeface="DM Sans"/>
              <a:buChar char="●"/>
            </a:pPr>
            <a:r>
              <a:rPr lang="en-US" sz="1500" b="1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Finding:</a:t>
            </a:r>
            <a:r>
              <a:rPr lang="en-US" sz="150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 The residuals showed </a:t>
            </a:r>
            <a:r>
              <a:rPr lang="en-US" sz="1500" b="1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volatility clustering</a:t>
            </a:r>
            <a:r>
              <a:rPr lang="en-US" sz="150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. This means periods of high error and low error were clumped together.</a:t>
            </a:r>
            <a:endParaRPr sz="1500" b="0" i="0" u="none" strike="noStrike" cap="none">
              <a:solidFill>
                <a:srgbClr val="36454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6454F"/>
              </a:buClr>
              <a:buSzPts val="1500"/>
              <a:buFont typeface="DM Sans"/>
              <a:buChar char="●"/>
            </a:pPr>
            <a:r>
              <a:rPr lang="en-US" sz="1500" b="1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Solution:</a:t>
            </a:r>
            <a:r>
              <a:rPr lang="en-US" sz="1500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 We added a </a:t>
            </a:r>
            <a:r>
              <a:rPr lang="en-US" sz="1500" b="1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GARCH</a:t>
            </a:r>
            <a:r>
              <a:rPr lang="en-US" sz="1500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 model to specifically model this non-constant variance.</a:t>
            </a: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36454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7" name="Google Shape;157;p18"/>
          <p:cNvSpPr txBox="1"/>
          <p:nvPr/>
        </p:nvSpPr>
        <p:spPr>
          <a:xfrm>
            <a:off x="790575" y="3771900"/>
            <a:ext cx="6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B3954"/>
                </a:solidFill>
                <a:latin typeface="Merriweather"/>
                <a:ea typeface="Merriweather"/>
                <a:cs typeface="Merriweather"/>
                <a:sym typeface="Merriweather"/>
              </a:rPr>
              <a:t>Workflow: GARCH</a:t>
            </a:r>
            <a:endParaRPr/>
          </a:p>
        </p:txBody>
      </p:sp>
      <p:pic>
        <p:nvPicPr>
          <p:cNvPr id="159" name="Google Shape;159;p18" title="garch_sarima_residual_diagnostic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9775" y="1771650"/>
            <a:ext cx="6703175" cy="3314700"/>
          </a:xfrm>
          <a:prstGeom prst="rect">
            <a:avLst/>
          </a:prstGeom>
          <a:noFill/>
          <a:ln>
            <a:noFill/>
          </a:ln>
          <a:effectLst>
            <a:outerShdw blurRad="57150" dist="47625" dir="606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9"/>
          <p:cNvSpPr txBox="1"/>
          <p:nvPr/>
        </p:nvSpPr>
        <p:spPr>
          <a:xfrm>
            <a:off x="571500" y="1762125"/>
            <a:ext cx="633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B3954"/>
                </a:solidFill>
                <a:latin typeface="Merriweather"/>
                <a:ea typeface="Merriweather"/>
                <a:cs typeface="Merriweather"/>
                <a:sym typeface="Merriweather"/>
              </a:rPr>
              <a:t>Step </a:t>
            </a:r>
            <a:r>
              <a:rPr lang="en-US" sz="2100" b="1">
                <a:solidFill>
                  <a:srgbClr val="0B3954"/>
                </a:solidFill>
                <a:latin typeface="Merriweather"/>
                <a:ea typeface="Merriweather"/>
                <a:cs typeface="Merriweather"/>
                <a:sym typeface="Merriweather"/>
              </a:rPr>
              <a:t>3:decompose a time series into Error(E) , Trend (T) ,Seasonality (S)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1093350" y="4753075"/>
            <a:ext cx="5286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773925" y="4412250"/>
            <a:ext cx="5000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726225" y="4849900"/>
            <a:ext cx="5000700" cy="10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Exponential smoothing is used to generate forecasts</a:t>
            </a:r>
            <a:endParaRPr sz="1800">
              <a:solidFill>
                <a:srgbClr val="36454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B3954"/>
                </a:solidFill>
                <a:latin typeface="Merriweather"/>
                <a:ea typeface="Merriweather"/>
                <a:cs typeface="Merriweather"/>
                <a:sym typeface="Merriweather"/>
              </a:rPr>
              <a:t>Workflow: </a:t>
            </a:r>
            <a:r>
              <a:rPr lang="en-US" sz="3600" b="1">
                <a:solidFill>
                  <a:srgbClr val="0B3954"/>
                </a:solidFill>
                <a:latin typeface="Merriweather"/>
                <a:ea typeface="Merriweather"/>
                <a:cs typeface="Merriweather"/>
                <a:sym typeface="Merriweather"/>
              </a:rPr>
              <a:t>ETS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6484800" y="781500"/>
            <a:ext cx="5688300" cy="51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a simple ETS model, the level component is updated as: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349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α= smoothing parameter for the level (between 0 and 1),</a:t>
            </a:r>
            <a:b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34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yt​ = the observed value at time ttt,</a:t>
            </a:r>
            <a:b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34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l(t−1​ )= previous level estimate,</a:t>
            </a:r>
            <a:b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34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b(t−1)​ = previous trend estimate.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1" name="Google Shape;17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95925" y="1706050"/>
            <a:ext cx="4110175" cy="92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9"/>
          <p:cNvSpPr txBox="1"/>
          <p:nvPr/>
        </p:nvSpPr>
        <p:spPr>
          <a:xfrm>
            <a:off x="678525" y="2553338"/>
            <a:ext cx="5096100" cy="20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F5F5F5"/>
                </a:highlight>
                <a:latin typeface="DM Sans"/>
                <a:ea typeface="DM Sans"/>
                <a:cs typeface="DM Sans"/>
                <a:sym typeface="DM Sans"/>
              </a:rPr>
              <a:t>ETS serves as a </a:t>
            </a:r>
            <a:r>
              <a:rPr lang="en-US" sz="1800" b="1">
                <a:solidFill>
                  <a:schemeClr val="dk1"/>
                </a:solidFill>
                <a:highlight>
                  <a:srgbClr val="F5F5F5"/>
                </a:highlight>
                <a:latin typeface="DM Sans"/>
                <a:ea typeface="DM Sans"/>
                <a:cs typeface="DM Sans"/>
                <a:sym typeface="DM Sans"/>
              </a:rPr>
              <a:t>classical benchmark</a:t>
            </a:r>
            <a:r>
              <a:rPr lang="en-US" sz="1800">
                <a:solidFill>
                  <a:schemeClr val="dk1"/>
                </a:solidFill>
                <a:highlight>
                  <a:srgbClr val="F5F5F5"/>
                </a:highlight>
                <a:latin typeface="DM Sans"/>
                <a:ea typeface="DM Sans"/>
                <a:cs typeface="DM Sans"/>
                <a:sym typeface="DM Sans"/>
              </a:rPr>
              <a:t> before testing Prophet, SARIMA, or LSTM.​</a:t>
            </a:r>
            <a:br>
              <a:rPr lang="en-US" sz="1800">
                <a:solidFill>
                  <a:schemeClr val="dk1"/>
                </a:solidFill>
                <a:highlight>
                  <a:srgbClr val="F5F5F5"/>
                </a:highlight>
                <a:latin typeface="DM Sans"/>
                <a:ea typeface="DM Sans"/>
                <a:cs typeface="DM Sans"/>
                <a:sym typeface="DM Sans"/>
              </a:rPr>
            </a:br>
            <a:r>
              <a:rPr lang="en-US" sz="1800">
                <a:solidFill>
                  <a:schemeClr val="dk1"/>
                </a:solidFill>
                <a:highlight>
                  <a:srgbClr val="F5F5F5"/>
                </a:highlight>
                <a:latin typeface="DM Sans"/>
                <a:ea typeface="DM Sans"/>
                <a:cs typeface="DM Sans"/>
                <a:sym typeface="DM Sans"/>
              </a:rPr>
              <a:t> It shows how much improvement you gain with advanced models.​</a:t>
            </a:r>
            <a:endParaRPr sz="1800">
              <a:solidFill>
                <a:schemeClr val="dk1"/>
              </a:solidFill>
              <a:highlight>
                <a:srgbClr val="F5F5F5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F5F5F5"/>
                </a:highlight>
                <a:latin typeface="DM Sans"/>
                <a:ea typeface="DM Sans"/>
                <a:cs typeface="DM Sans"/>
                <a:sym typeface="DM Sans"/>
              </a:rPr>
              <a:t>Implements Exponential Smoothing forecasting model.​</a:t>
            </a:r>
            <a:endParaRPr sz="3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/>
        </p:nvSpPr>
        <p:spPr>
          <a:xfrm>
            <a:off x="857250" y="1664925"/>
            <a:ext cx="5550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0B3954"/>
                </a:solidFill>
                <a:latin typeface="Merriweather"/>
                <a:ea typeface="Merriweather"/>
                <a:cs typeface="Merriweather"/>
                <a:sym typeface="Merriweather"/>
              </a:rPr>
              <a:t>A generalized additive model (GAM)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857250" y="2377000"/>
            <a:ext cx="5286300" cy="16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It is designed to make it easy for both non-experts and experienced practitioners to generate reliable forecasts, especially when dealing with data that exhibits strong seasonal effects and multiple seasonalities, along with trend changes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704850" y="3486150"/>
            <a:ext cx="152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704850" y="4200525"/>
            <a:ext cx="152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857250" y="571425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B3954"/>
                </a:solidFill>
                <a:latin typeface="Merriweather"/>
                <a:ea typeface="Merriweather"/>
                <a:cs typeface="Merriweather"/>
                <a:sym typeface="Merriweather"/>
              </a:rPr>
              <a:t>Workflow: </a:t>
            </a:r>
            <a:r>
              <a:rPr lang="en-US" sz="3600" b="1">
                <a:solidFill>
                  <a:srgbClr val="0B3954"/>
                </a:solidFill>
                <a:latin typeface="Merriweather"/>
                <a:ea typeface="Merriweather"/>
                <a:cs typeface="Merriweather"/>
                <a:sym typeface="Merriweather"/>
              </a:rPr>
              <a:t>PROPHET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7179125" y="1180325"/>
            <a:ext cx="50406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" name="Google Shape;18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35688" y="1397475"/>
            <a:ext cx="3819525" cy="5905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0"/>
          <p:cNvSpPr txBox="1"/>
          <p:nvPr/>
        </p:nvSpPr>
        <p:spPr>
          <a:xfrm>
            <a:off x="6943050" y="2443950"/>
            <a:ext cx="4874100" cy="40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y(t)y(t)y(t) = observed value at time ttt</a:t>
            </a:r>
            <a:b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g(t)g(t)g(t) = trend function</a:t>
            </a:r>
            <a:b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s(t)s(t)s(t) = seasonality component</a:t>
            </a:r>
            <a:b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h(t)h(t)h(t) = effects of holidays or special events</a:t>
            </a:r>
            <a:b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ϵt∼N(0,σ2)\epsilon_t \sim \mathcal{N}(0, \sigma^2)ϵt​∼N(0,σ2) = error term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1"/>
          <p:cNvSpPr txBox="1"/>
          <p:nvPr/>
        </p:nvSpPr>
        <p:spPr>
          <a:xfrm>
            <a:off x="571500" y="1762125"/>
            <a:ext cx="555069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B3954"/>
                </a:solidFill>
                <a:latin typeface="Merriweather"/>
                <a:ea typeface="Merriweather"/>
                <a:cs typeface="Merriweather"/>
                <a:sym typeface="Merriweather"/>
              </a:rPr>
              <a:t>A Deep Learning Approach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571500" y="2295525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The LSTM is a 'black box' model that learns patterns automatically.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714350" y="3130800"/>
            <a:ext cx="4326600" cy="23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457200" marR="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6454F"/>
              </a:buClr>
              <a:buSzPts val="1500"/>
              <a:buFont typeface="DM Sans"/>
              <a:buAutoNum type="arabicPeriod"/>
            </a:pPr>
            <a:r>
              <a:rPr lang="en-US" sz="150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Data was scaled (normalized) and transformed into sequential 'windows' (e.g., use 12 months to predict the 13th).</a:t>
            </a:r>
            <a:endParaRPr sz="1500" b="0" i="0" u="none" strike="noStrike" cap="none">
              <a:solidFill>
                <a:srgbClr val="36454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6454F"/>
              </a:buClr>
              <a:buSzPts val="1500"/>
              <a:buFont typeface="DM Sans"/>
              <a:buAutoNum type="arabicPeriod"/>
            </a:pPr>
            <a:r>
              <a:rPr lang="en-US" sz="1500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The model was trained to predict the next time step from a window of past steps.</a:t>
            </a:r>
            <a:endParaRPr sz="1500">
              <a:solidFill>
                <a:srgbClr val="36454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6454F"/>
              </a:buClr>
              <a:buSzPts val="1500"/>
              <a:buFont typeface="DM Sans"/>
              <a:buAutoNum type="arabicPeriod"/>
            </a:pPr>
            <a:r>
              <a:rPr lang="en-US" sz="1500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We monitored training and validation loss to prevent </a:t>
            </a:r>
            <a:r>
              <a:rPr lang="en-US" sz="1500" b="1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overfitting</a:t>
            </a:r>
            <a:r>
              <a:rPr lang="en-US" sz="1500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500">
              <a:solidFill>
                <a:srgbClr val="36454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B3954"/>
                </a:solidFill>
                <a:latin typeface="Merriweather"/>
                <a:ea typeface="Merriweather"/>
                <a:cs typeface="Merriweather"/>
                <a:sym typeface="Merriweather"/>
              </a:rPr>
              <a:t>Workflow: Building the LSTM</a:t>
            </a:r>
            <a:endParaRPr/>
          </a:p>
        </p:txBody>
      </p:sp>
      <p:pic>
        <p:nvPicPr>
          <p:cNvPr id="195" name="Google Shape;195;p21" title="lstm_loss.png"/>
          <p:cNvPicPr preferRelativeResize="0"/>
          <p:nvPr/>
        </p:nvPicPr>
        <p:blipFill rotWithShape="1">
          <a:blip r:embed="rId4">
            <a:alphaModFix/>
          </a:blip>
          <a:srcRect l="5794" r="6548"/>
          <a:stretch/>
        </p:blipFill>
        <p:spPr>
          <a:xfrm>
            <a:off x="5505300" y="1943100"/>
            <a:ext cx="6406299" cy="3381650"/>
          </a:xfrm>
          <a:prstGeom prst="rect">
            <a:avLst/>
          </a:prstGeom>
          <a:noFill/>
          <a:ln>
            <a:noFill/>
          </a:ln>
          <a:effectLst>
            <a:outerShdw blurRad="57150" dist="47625" dir="60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2"/>
          <p:cNvSpPr txBox="1"/>
          <p:nvPr/>
        </p:nvSpPr>
        <p:spPr>
          <a:xfrm>
            <a:off x="436959" y="1685925"/>
            <a:ext cx="565070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B3954"/>
                </a:solidFill>
                <a:latin typeface="Merriweather"/>
                <a:ea typeface="Merriweather"/>
                <a:cs typeface="Merriweather"/>
                <a:sym typeface="Merriweather"/>
              </a:rPr>
              <a:t>SARIMA Forecast</a:t>
            </a:r>
            <a:endParaRPr/>
          </a:p>
        </p:txBody>
      </p:sp>
      <p:sp>
        <p:nvSpPr>
          <p:cNvPr id="202" name="Google Shape;202;p22"/>
          <p:cNvSpPr txBox="1"/>
          <p:nvPr/>
        </p:nvSpPr>
        <p:spPr>
          <a:xfrm>
            <a:off x="571500" y="5697005"/>
            <a:ext cx="5381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Captures the trend and seasonality well.</a:t>
            </a:r>
            <a:endParaRPr/>
          </a:p>
        </p:txBody>
      </p:sp>
      <p:sp>
        <p:nvSpPr>
          <p:cNvPr id="203" name="Google Shape;203;p22"/>
          <p:cNvSpPr txBox="1"/>
          <p:nvPr/>
        </p:nvSpPr>
        <p:spPr>
          <a:xfrm>
            <a:off x="6104334" y="1685925"/>
            <a:ext cx="565070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B3954"/>
                </a:solidFill>
                <a:latin typeface="Merriweather"/>
                <a:ea typeface="Merriweather"/>
                <a:cs typeface="Merriweather"/>
                <a:sym typeface="Merriweather"/>
              </a:rPr>
              <a:t>Prophet Forecast</a:t>
            </a:r>
            <a:endParaRPr/>
          </a:p>
        </p:txBody>
      </p:sp>
      <p:sp>
        <p:nvSpPr>
          <p:cNvPr id="204" name="Google Shape;204;p22"/>
          <p:cNvSpPr txBox="1"/>
          <p:nvPr/>
        </p:nvSpPr>
        <p:spPr>
          <a:xfrm>
            <a:off x="6238875" y="5695950"/>
            <a:ext cx="53816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Also follows the main patterns effectively.</a:t>
            </a:r>
            <a:endParaRPr/>
          </a:p>
        </p:txBody>
      </p:sp>
      <p:sp>
        <p:nvSpPr>
          <p:cNvPr id="205" name="Google Shape;205;p22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B3954"/>
                </a:solidFill>
                <a:latin typeface="Merriweather"/>
                <a:ea typeface="Merriweather"/>
                <a:cs typeface="Merriweather"/>
                <a:sym typeface="Merriweather"/>
              </a:rPr>
              <a:t>Results:</a:t>
            </a:r>
            <a:endParaRPr/>
          </a:p>
        </p:txBody>
      </p:sp>
      <p:pic>
        <p:nvPicPr>
          <p:cNvPr id="206" name="Google Shape;206;p22" title="sarima_full_forecast_plo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3713" y="2322080"/>
            <a:ext cx="5801925" cy="3081674"/>
          </a:xfrm>
          <a:prstGeom prst="rect">
            <a:avLst/>
          </a:prstGeom>
          <a:noFill/>
          <a:ln>
            <a:noFill/>
          </a:ln>
          <a:effectLst>
            <a:outerShdw blurRad="57150" dist="76200" dir="666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07" name="Google Shape;207;p22" title="prophet_full_forecast_plot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56362" y="2322075"/>
            <a:ext cx="5801925" cy="3081650"/>
          </a:xfrm>
          <a:prstGeom prst="rect">
            <a:avLst/>
          </a:prstGeom>
          <a:noFill/>
          <a:ln>
            <a:noFill/>
          </a:ln>
          <a:effectLst>
            <a:outerShdw blurRad="57150" dist="76200" dir="666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3"/>
          <p:cNvSpPr txBox="1"/>
          <p:nvPr/>
        </p:nvSpPr>
        <p:spPr>
          <a:xfrm>
            <a:off x="436959" y="1685925"/>
            <a:ext cx="565070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B3954"/>
                </a:solidFill>
                <a:latin typeface="Merriweather"/>
                <a:ea typeface="Merriweather"/>
                <a:cs typeface="Merriweather"/>
                <a:sym typeface="Merriweather"/>
              </a:rPr>
              <a:t>ETS (Holt-Winters) Forecast</a:t>
            </a:r>
            <a:endParaRPr/>
          </a:p>
        </p:txBody>
      </p:sp>
      <p:sp>
        <p:nvSpPr>
          <p:cNvPr id="214" name="Google Shape;214;p23"/>
          <p:cNvSpPr txBox="1"/>
          <p:nvPr/>
        </p:nvSpPr>
        <p:spPr>
          <a:xfrm>
            <a:off x="571500" y="5695950"/>
            <a:ext cx="53816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A classic statistical fit.</a:t>
            </a:r>
            <a:endParaRPr/>
          </a:p>
        </p:txBody>
      </p:sp>
      <p:sp>
        <p:nvSpPr>
          <p:cNvPr id="215" name="Google Shape;215;p23"/>
          <p:cNvSpPr txBox="1"/>
          <p:nvPr/>
        </p:nvSpPr>
        <p:spPr>
          <a:xfrm>
            <a:off x="6104334" y="1685925"/>
            <a:ext cx="565070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B3954"/>
                </a:solidFill>
                <a:latin typeface="Merriweather"/>
                <a:ea typeface="Merriweather"/>
                <a:cs typeface="Merriweather"/>
                <a:sym typeface="Merriweather"/>
              </a:rPr>
              <a:t>LSTM Forecast</a:t>
            </a:r>
            <a:endParaRPr/>
          </a:p>
        </p:txBody>
      </p:sp>
      <p:sp>
        <p:nvSpPr>
          <p:cNvPr id="216" name="Google Shape;216;p23"/>
          <p:cNvSpPr txBox="1"/>
          <p:nvPr/>
        </p:nvSpPr>
        <p:spPr>
          <a:xfrm>
            <a:off x="6238875" y="5695950"/>
            <a:ext cx="53816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The deep learning model's fit.</a:t>
            </a:r>
            <a:endParaRPr/>
          </a:p>
        </p:txBody>
      </p:sp>
      <p:sp>
        <p:nvSpPr>
          <p:cNvPr id="217" name="Google Shape;217;p23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B3954"/>
                </a:solidFill>
                <a:latin typeface="Merriweather"/>
                <a:ea typeface="Merriweather"/>
                <a:cs typeface="Merriweather"/>
                <a:sym typeface="Merriweather"/>
              </a:rPr>
              <a:t>Results:</a:t>
            </a:r>
            <a:endParaRPr/>
          </a:p>
        </p:txBody>
      </p:sp>
      <p:pic>
        <p:nvPicPr>
          <p:cNvPr id="218" name="Google Shape;218;p23" title="ets_full_forecast_plo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5750" y="2315600"/>
            <a:ext cx="5800451" cy="3093584"/>
          </a:xfrm>
          <a:prstGeom prst="rect">
            <a:avLst/>
          </a:prstGeom>
          <a:noFill/>
          <a:ln>
            <a:noFill/>
          </a:ln>
          <a:effectLst>
            <a:outerShdw blurRad="57150" dist="66675" dir="66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19" name="Google Shape;219;p23" title="future_forecast_84_step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5800" y="2315600"/>
            <a:ext cx="5800451" cy="3093576"/>
          </a:xfrm>
          <a:prstGeom prst="rect">
            <a:avLst/>
          </a:prstGeom>
          <a:noFill/>
          <a:ln>
            <a:noFill/>
          </a:ln>
          <a:effectLst>
            <a:outerShdw blurRad="57150" dist="66675" dir="66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4"/>
          <p:cNvSpPr txBox="1"/>
          <p:nvPr/>
        </p:nvSpPr>
        <p:spPr>
          <a:xfrm>
            <a:off x="571500" y="2181225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We compared all models on a held-out test set. Lower scores are better.</a:t>
            </a:r>
            <a:endParaRPr/>
          </a:p>
        </p:txBody>
      </p:sp>
      <p:graphicFrame>
        <p:nvGraphicFramePr>
          <p:cNvPr id="226" name="Google Shape;226;p24"/>
          <p:cNvGraphicFramePr/>
          <p:nvPr/>
        </p:nvGraphicFramePr>
        <p:xfrm>
          <a:off x="571500" y="275272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{17BCA6D0-62C2-4A87-9980-01C5CBE22EAD}</a:tableStyleId>
              </a:tblPr>
              <a:tblGrid>
                <a:gridCol w="2247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3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09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B3954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Model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D7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B3954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MAE (Avg. Error)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D7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B3954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RMSE (Penalizes Big Errors)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D7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B3954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MAPE (Avg. % Error)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D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6454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SARIMA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6454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2.4351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6454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3.2875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6454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2.36%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6454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ETS (Holt-Winters)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6454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4.0925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6454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4.8860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6454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3.89%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6454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Prophet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6454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3.4321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6454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4.1965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6454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3.43%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6454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LSTM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6454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3.3808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6454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2.6463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6454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2.61%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7" name="Google Shape;227;p24"/>
          <p:cNvSpPr/>
          <p:nvPr/>
        </p:nvSpPr>
        <p:spPr>
          <a:xfrm>
            <a:off x="571500" y="3376612"/>
            <a:ext cx="2247155" cy="9525"/>
          </a:xfrm>
          <a:prstGeom prst="rect">
            <a:avLst/>
          </a:prstGeom>
          <a:solidFill>
            <a:srgbClr val="BFD7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4"/>
          <p:cNvSpPr/>
          <p:nvPr/>
        </p:nvSpPr>
        <p:spPr>
          <a:xfrm>
            <a:off x="2818655" y="3376612"/>
            <a:ext cx="2379315" cy="9525"/>
          </a:xfrm>
          <a:prstGeom prst="rect">
            <a:avLst/>
          </a:prstGeom>
          <a:solidFill>
            <a:srgbClr val="BFD7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4"/>
          <p:cNvSpPr/>
          <p:nvPr/>
        </p:nvSpPr>
        <p:spPr>
          <a:xfrm>
            <a:off x="5197971" y="3376612"/>
            <a:ext cx="3613100" cy="9525"/>
          </a:xfrm>
          <a:prstGeom prst="rect">
            <a:avLst/>
          </a:prstGeom>
          <a:solidFill>
            <a:srgbClr val="BFD7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4"/>
          <p:cNvSpPr/>
          <p:nvPr/>
        </p:nvSpPr>
        <p:spPr>
          <a:xfrm>
            <a:off x="8811071" y="3376612"/>
            <a:ext cx="2809428" cy="9525"/>
          </a:xfrm>
          <a:prstGeom prst="rect">
            <a:avLst/>
          </a:prstGeom>
          <a:solidFill>
            <a:srgbClr val="BFD7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4"/>
          <p:cNvSpPr/>
          <p:nvPr/>
        </p:nvSpPr>
        <p:spPr>
          <a:xfrm>
            <a:off x="571500" y="3986212"/>
            <a:ext cx="2247155" cy="9525"/>
          </a:xfrm>
          <a:prstGeom prst="rect">
            <a:avLst/>
          </a:prstGeom>
          <a:solidFill>
            <a:srgbClr val="BFD7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4"/>
          <p:cNvSpPr/>
          <p:nvPr/>
        </p:nvSpPr>
        <p:spPr>
          <a:xfrm>
            <a:off x="2818655" y="3986212"/>
            <a:ext cx="2379315" cy="9525"/>
          </a:xfrm>
          <a:prstGeom prst="rect">
            <a:avLst/>
          </a:prstGeom>
          <a:solidFill>
            <a:srgbClr val="BFD7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4"/>
          <p:cNvSpPr/>
          <p:nvPr/>
        </p:nvSpPr>
        <p:spPr>
          <a:xfrm>
            <a:off x="5197971" y="3986212"/>
            <a:ext cx="3613100" cy="9525"/>
          </a:xfrm>
          <a:prstGeom prst="rect">
            <a:avLst/>
          </a:prstGeom>
          <a:solidFill>
            <a:srgbClr val="BFD7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4"/>
          <p:cNvSpPr/>
          <p:nvPr/>
        </p:nvSpPr>
        <p:spPr>
          <a:xfrm>
            <a:off x="8811071" y="3986212"/>
            <a:ext cx="2809428" cy="9525"/>
          </a:xfrm>
          <a:prstGeom prst="rect">
            <a:avLst/>
          </a:prstGeom>
          <a:solidFill>
            <a:srgbClr val="BFD7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4"/>
          <p:cNvSpPr/>
          <p:nvPr/>
        </p:nvSpPr>
        <p:spPr>
          <a:xfrm>
            <a:off x="571500" y="4595812"/>
            <a:ext cx="2247155" cy="9525"/>
          </a:xfrm>
          <a:prstGeom prst="rect">
            <a:avLst/>
          </a:prstGeom>
          <a:solidFill>
            <a:srgbClr val="BFD7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4"/>
          <p:cNvSpPr/>
          <p:nvPr/>
        </p:nvSpPr>
        <p:spPr>
          <a:xfrm>
            <a:off x="2818655" y="4595812"/>
            <a:ext cx="2379315" cy="9525"/>
          </a:xfrm>
          <a:prstGeom prst="rect">
            <a:avLst/>
          </a:prstGeom>
          <a:solidFill>
            <a:srgbClr val="BFD7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4"/>
          <p:cNvSpPr/>
          <p:nvPr/>
        </p:nvSpPr>
        <p:spPr>
          <a:xfrm>
            <a:off x="5197971" y="4595812"/>
            <a:ext cx="3613100" cy="9525"/>
          </a:xfrm>
          <a:prstGeom prst="rect">
            <a:avLst/>
          </a:prstGeom>
          <a:solidFill>
            <a:srgbClr val="BFD7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4"/>
          <p:cNvSpPr/>
          <p:nvPr/>
        </p:nvSpPr>
        <p:spPr>
          <a:xfrm>
            <a:off x="8811071" y="4595812"/>
            <a:ext cx="2809428" cy="9525"/>
          </a:xfrm>
          <a:prstGeom prst="rect">
            <a:avLst/>
          </a:prstGeom>
          <a:solidFill>
            <a:srgbClr val="BFD7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4"/>
          <p:cNvSpPr/>
          <p:nvPr/>
        </p:nvSpPr>
        <p:spPr>
          <a:xfrm>
            <a:off x="571500" y="5205412"/>
            <a:ext cx="2247155" cy="9525"/>
          </a:xfrm>
          <a:prstGeom prst="rect">
            <a:avLst/>
          </a:prstGeom>
          <a:solidFill>
            <a:srgbClr val="BFD7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4"/>
          <p:cNvSpPr/>
          <p:nvPr/>
        </p:nvSpPr>
        <p:spPr>
          <a:xfrm>
            <a:off x="2818655" y="5205412"/>
            <a:ext cx="2379315" cy="9525"/>
          </a:xfrm>
          <a:prstGeom prst="rect">
            <a:avLst/>
          </a:prstGeom>
          <a:solidFill>
            <a:srgbClr val="BFD7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4"/>
          <p:cNvSpPr/>
          <p:nvPr/>
        </p:nvSpPr>
        <p:spPr>
          <a:xfrm>
            <a:off x="5197971" y="5205412"/>
            <a:ext cx="3613100" cy="9525"/>
          </a:xfrm>
          <a:prstGeom prst="rect">
            <a:avLst/>
          </a:prstGeom>
          <a:solidFill>
            <a:srgbClr val="BFD7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4"/>
          <p:cNvSpPr/>
          <p:nvPr/>
        </p:nvSpPr>
        <p:spPr>
          <a:xfrm>
            <a:off x="8811071" y="5205412"/>
            <a:ext cx="2809428" cy="9525"/>
          </a:xfrm>
          <a:prstGeom prst="rect">
            <a:avLst/>
          </a:prstGeom>
          <a:solidFill>
            <a:srgbClr val="BFD7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4"/>
          <p:cNvSpPr txBox="1"/>
          <p:nvPr/>
        </p:nvSpPr>
        <p:spPr>
          <a:xfrm>
            <a:off x="295275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B3954"/>
                </a:solidFill>
                <a:latin typeface="Merriweather"/>
                <a:ea typeface="Merriweather"/>
                <a:cs typeface="Merriweather"/>
                <a:sym typeface="Merriweather"/>
              </a:rPr>
              <a:t>Quantitative Results: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57400"/>
            <a:ext cx="5286375" cy="369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057400"/>
            <a:ext cx="5286375" cy="3695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5"/>
          <p:cNvSpPr txBox="1"/>
          <p:nvPr/>
        </p:nvSpPr>
        <p:spPr>
          <a:xfrm>
            <a:off x="962025" y="2447925"/>
            <a:ext cx="473059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08E45"/>
                </a:solidFill>
                <a:latin typeface="Merriweather"/>
                <a:ea typeface="Merriweather"/>
                <a:cs typeface="Merriweather"/>
                <a:sym typeface="Merriweather"/>
              </a:rPr>
              <a:t>Best Accuracy</a:t>
            </a:r>
            <a:endParaRPr/>
          </a:p>
        </p:txBody>
      </p:sp>
      <p:sp>
        <p:nvSpPr>
          <p:cNvPr id="252" name="Google Shape;252;p25"/>
          <p:cNvSpPr txBox="1"/>
          <p:nvPr/>
        </p:nvSpPr>
        <p:spPr>
          <a:xfrm>
            <a:off x="962025" y="2981325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SARIMA:</a:t>
            </a:r>
            <a:r>
              <a:rPr lang="en-US" sz="150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 Had the lowest *average error* (MAE &amp; MAPE). A fantastic, interpretable baseline for this dataset.</a:t>
            </a:r>
            <a:endParaRPr/>
          </a:p>
        </p:txBody>
      </p:sp>
      <p:sp>
        <p:nvSpPr>
          <p:cNvPr id="253" name="Google Shape;253;p25"/>
          <p:cNvSpPr txBox="1"/>
          <p:nvPr/>
        </p:nvSpPr>
        <p:spPr>
          <a:xfrm>
            <a:off x="962025" y="4029075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LSTM:</a:t>
            </a:r>
            <a:r>
              <a:rPr lang="en-US" sz="150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 Had the lowest *RMSE*. This suggests it was the best at avoiding large, costly errors, likely by capturing non-linear patterns.</a:t>
            </a:r>
            <a:endParaRPr/>
          </a:p>
        </p:txBody>
      </p:sp>
      <p:sp>
        <p:nvSpPr>
          <p:cNvPr id="254" name="Google Shape;254;p25"/>
          <p:cNvSpPr txBox="1"/>
          <p:nvPr/>
        </p:nvSpPr>
        <p:spPr>
          <a:xfrm>
            <a:off x="6724650" y="2447925"/>
            <a:ext cx="473059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08E45"/>
                </a:solidFill>
                <a:latin typeface="Merriweather"/>
                <a:ea typeface="Merriweather"/>
                <a:cs typeface="Merriweather"/>
                <a:sym typeface="Merriweather"/>
              </a:rPr>
              <a:t>Best Interpretability</a:t>
            </a:r>
            <a:endParaRPr/>
          </a:p>
        </p:txBody>
      </p:sp>
      <p:sp>
        <p:nvSpPr>
          <p:cNvPr id="255" name="Google Shape;255;p25"/>
          <p:cNvSpPr txBox="1"/>
          <p:nvPr/>
        </p:nvSpPr>
        <p:spPr>
          <a:xfrm>
            <a:off x="6724650" y="2981325"/>
            <a:ext cx="450532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PROPHET:</a:t>
            </a:r>
            <a:r>
              <a:rPr lang="en-US" sz="150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 While not the most accurate here, its strength is *speed and interpretability*. You can easily plot its components (trend, seasonality) to see *why* it made its forecast.</a:t>
            </a:r>
            <a:endParaRPr/>
          </a:p>
        </p:txBody>
      </p:sp>
      <p:sp>
        <p:nvSpPr>
          <p:cNvPr id="256" name="Google Shape;256;p25"/>
          <p:cNvSpPr txBox="1"/>
          <p:nvPr/>
        </p:nvSpPr>
        <p:spPr>
          <a:xfrm>
            <a:off x="6724650" y="4314825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ETS:</a:t>
            </a:r>
            <a:r>
              <a:rPr lang="en-US" sz="150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 A clear, simple statistical competitor, but it was less effective *on this specific dataset* than the more complex SARIMA.</a:t>
            </a:r>
            <a:endParaRPr/>
          </a:p>
        </p:txBody>
      </p:sp>
      <p:sp>
        <p:nvSpPr>
          <p:cNvPr id="257" name="Google Shape;257;p2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B3954"/>
                </a:solidFill>
                <a:latin typeface="Merriweather"/>
                <a:ea typeface="Merriweather"/>
                <a:cs typeface="Merriweather"/>
                <a:sym typeface="Merriweather"/>
              </a:rPr>
              <a:t>Discussion: The Trade-Off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6"/>
          <p:cNvSpPr txBox="1"/>
          <p:nvPr/>
        </p:nvSpPr>
        <p:spPr>
          <a:xfrm>
            <a:off x="1198450" y="542300"/>
            <a:ext cx="10008900" cy="3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1" b="1" i="0" u="none" strike="noStrike" cap="none">
                <a:solidFill>
                  <a:srgbClr val="0B3954"/>
                </a:solidFill>
                <a:latin typeface="Merriweather"/>
                <a:ea typeface="Merriweather"/>
                <a:cs typeface="Merriweather"/>
                <a:sym typeface="Merriweather"/>
              </a:rPr>
              <a:t>Conclusion</a:t>
            </a:r>
            <a:endParaRPr sz="1556"/>
          </a:p>
        </p:txBody>
      </p:sp>
      <p:sp>
        <p:nvSpPr>
          <p:cNvPr id="264" name="Google Shape;264;p26"/>
          <p:cNvSpPr txBox="1"/>
          <p:nvPr/>
        </p:nvSpPr>
        <p:spPr>
          <a:xfrm>
            <a:off x="1198450" y="2941899"/>
            <a:ext cx="10008900" cy="3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1" b="1" i="0" u="none" strike="noStrike" cap="none">
                <a:solidFill>
                  <a:srgbClr val="0B3954"/>
                </a:solidFill>
                <a:latin typeface="Merriweather"/>
                <a:ea typeface="Merriweather"/>
                <a:cs typeface="Merriweather"/>
                <a:sym typeface="Merriweather"/>
              </a:rPr>
              <a:t>Future Work</a:t>
            </a:r>
            <a:endParaRPr sz="1556"/>
          </a:p>
        </p:txBody>
      </p:sp>
      <p:sp>
        <p:nvSpPr>
          <p:cNvPr id="265" name="Google Shape;265;p26"/>
          <p:cNvSpPr txBox="1"/>
          <p:nvPr/>
        </p:nvSpPr>
        <p:spPr>
          <a:xfrm>
            <a:off x="1675060" y="1188371"/>
            <a:ext cx="9055800" cy="2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34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Successfully compared </a:t>
            </a:r>
            <a:r>
              <a:rPr lang="en-US" sz="1834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four</a:t>
            </a:r>
            <a:r>
              <a:rPr lang="en-US" sz="1834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 models, from statistical to deep learning.</a:t>
            </a:r>
            <a:endParaRPr sz="1556"/>
          </a:p>
        </p:txBody>
      </p:sp>
      <p:sp>
        <p:nvSpPr>
          <p:cNvPr id="266" name="Google Shape;266;p26"/>
          <p:cNvSpPr txBox="1"/>
          <p:nvPr/>
        </p:nvSpPr>
        <p:spPr>
          <a:xfrm>
            <a:off x="1675060" y="1772881"/>
            <a:ext cx="9055800" cy="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34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The "best" model depends on the goal: </a:t>
            </a:r>
            <a:r>
              <a:rPr lang="en-US" sz="1834" b="1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Accuracy (SARIMA/LSTM)</a:t>
            </a:r>
            <a:r>
              <a:rPr lang="en-US" sz="1834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 vs. </a:t>
            </a:r>
            <a:r>
              <a:rPr lang="en-US" sz="1834" b="1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Interpretability (Prophet)</a:t>
            </a:r>
            <a:r>
              <a:rPr lang="en-US" sz="1834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556"/>
          </a:p>
        </p:txBody>
      </p:sp>
      <p:sp>
        <p:nvSpPr>
          <p:cNvPr id="267" name="Google Shape;267;p26"/>
          <p:cNvSpPr txBox="1"/>
          <p:nvPr/>
        </p:nvSpPr>
        <p:spPr>
          <a:xfrm>
            <a:off x="1675060" y="3587971"/>
            <a:ext cx="9055800" cy="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34" b="1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Hybrid Models:</a:t>
            </a:r>
            <a:r>
              <a:rPr lang="en-US" sz="1834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 Combine SARIMA (for linear patterns) with an LSTM (for non-linear residuals).</a:t>
            </a:r>
            <a:endParaRPr sz="1556"/>
          </a:p>
        </p:txBody>
      </p:sp>
      <p:sp>
        <p:nvSpPr>
          <p:cNvPr id="268" name="Google Shape;268;p26"/>
          <p:cNvSpPr txBox="1"/>
          <p:nvPr/>
        </p:nvSpPr>
        <p:spPr>
          <a:xfrm>
            <a:off x="1675060" y="4545163"/>
            <a:ext cx="9055800" cy="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34" b="1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Multivariate Analysis:</a:t>
            </a:r>
            <a:r>
              <a:rPr lang="en-US" sz="1834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 Add other variables (e.g., weather, holidays) using VAR or multivariate LSTMs.</a:t>
            </a:r>
            <a:endParaRPr sz="1556"/>
          </a:p>
        </p:txBody>
      </p:sp>
      <p:sp>
        <p:nvSpPr>
          <p:cNvPr id="269" name="Google Shape;269;p26"/>
          <p:cNvSpPr txBox="1"/>
          <p:nvPr/>
        </p:nvSpPr>
        <p:spPr>
          <a:xfrm>
            <a:off x="1675060" y="5502355"/>
            <a:ext cx="9055800" cy="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34" b="1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Probabilistic Forecasting:</a:t>
            </a:r>
            <a:r>
              <a:rPr lang="en-US" sz="1834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 Quantify the *uncertainty* of the forecasts, not just a single-point prediction.</a:t>
            </a:r>
            <a:endParaRPr sz="1556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 txBox="1"/>
          <p:nvPr/>
        </p:nvSpPr>
        <p:spPr>
          <a:xfrm>
            <a:off x="295275" y="2481262"/>
            <a:ext cx="11601450" cy="9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B3954"/>
                </a:solidFill>
                <a:latin typeface="Merriweather"/>
                <a:ea typeface="Merriweather"/>
                <a:cs typeface="Merriweather"/>
                <a:sym typeface="Merriweather"/>
              </a:rPr>
              <a:t>Questions?</a:t>
            </a:r>
            <a:endParaRPr/>
          </a:p>
        </p:txBody>
      </p:sp>
      <p:sp>
        <p:nvSpPr>
          <p:cNvPr id="276" name="Google Shape;276;p27"/>
          <p:cNvSpPr txBox="1"/>
          <p:nvPr/>
        </p:nvSpPr>
        <p:spPr>
          <a:xfrm>
            <a:off x="571500" y="3709987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1030</Words>
  <Application>Microsoft Office PowerPoint</Application>
  <PresentationFormat>Widescreen</PresentationFormat>
  <Paragraphs>124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Merriweather</vt:lpstr>
      <vt:lpstr>Calibri</vt:lpstr>
      <vt:lpstr>DM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vanshika gupta</cp:lastModifiedBy>
  <cp:revision>1</cp:revision>
  <dcterms:modified xsi:type="dcterms:W3CDTF">2025-12-07T22:44:43Z</dcterms:modified>
</cp:coreProperties>
</file>